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1b1450752b4bf6" /><Relationship Type="http://schemas.openxmlformats.org/officeDocument/2006/relationships/extended-properties" Target="/docProps/app.xml" Id="R6921bb65a8f1453e" /><Relationship Type="http://schemas.openxmlformats.org/officeDocument/2006/relationships/officeDocument" Target="/ppt/presentation.xml" Id="R0e6ceefaca4d4f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81116bc17d444f"/>
  </p:sldMasterIdLst>
  <p:notesMasterIdLst>
    <p:notesMasterId xmlns:r="http://schemas.openxmlformats.org/officeDocument/2006/relationships" r:id="R4fbdaa0c10e04a60"/>
  </p:notesMasterIdLst>
  <p:sldIdLst>
    <p:sldId xmlns:r="http://schemas.openxmlformats.org/officeDocument/2006/relationships" id="256" r:id="Ra4340ead9f514ac6"/>
    <p:sldId xmlns:r="http://schemas.openxmlformats.org/officeDocument/2006/relationships" id="257" r:id="Rabe7022a00654490"/>
    <p:sldId xmlns:r="http://schemas.openxmlformats.org/officeDocument/2006/relationships" id="258" r:id="Rb513630e694244f6"/>
    <p:sldId xmlns:r="http://schemas.openxmlformats.org/officeDocument/2006/relationships" id="259" r:id="R8b9fb8196cec4624"/>
    <p:sldId xmlns:r="http://schemas.openxmlformats.org/officeDocument/2006/relationships" id="260" r:id="Rab3bdf5b60184073"/>
    <p:sldId xmlns:r="http://schemas.openxmlformats.org/officeDocument/2006/relationships" id="261" r:id="R7916c623b33f4e4a"/>
    <p:sldId xmlns:r="http://schemas.openxmlformats.org/officeDocument/2006/relationships" id="262" r:id="Re61ee55e4a824b61"/>
    <p:sldId xmlns:r="http://schemas.openxmlformats.org/officeDocument/2006/relationships" id="263" r:id="Rbe553258a7ce4587"/>
    <p:sldId xmlns:r="http://schemas.openxmlformats.org/officeDocument/2006/relationships" id="264" r:id="R0cb092c023a44ab4"/>
    <p:sldId xmlns:r="http://schemas.openxmlformats.org/officeDocument/2006/relationships" id="265" r:id="R385be8d4d6484084"/>
    <p:sldId xmlns:r="http://schemas.openxmlformats.org/officeDocument/2006/relationships" id="266" r:id="R51e8e1ea84214e8e"/>
    <p:sldId xmlns:r="http://schemas.openxmlformats.org/officeDocument/2006/relationships" id="267" r:id="Rf2619d639c5547aa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622e37eaf64a91" /><Relationship Type="http://schemas.openxmlformats.org/officeDocument/2006/relationships/slideMaster" Target="/ppt/slideMasters/slideMaster1.xml" Id="Rd781116bc17d444f" /><Relationship Type="http://schemas.openxmlformats.org/officeDocument/2006/relationships/notesMaster" Target="/ppt/notesMasters/notesMaster1.xml" Id="R4fbdaa0c10e04a60" /><Relationship Type="http://schemas.openxmlformats.org/officeDocument/2006/relationships/presProps" Target="/ppt/presProps.xml" Id="R68742a69bcbc415e" /><Relationship Type="http://schemas.openxmlformats.org/officeDocument/2006/relationships/tableStyles" Target="/ppt/tableStyles.xml" Id="R7bdb026102d84c47" /><Relationship Type="http://schemas.openxmlformats.org/officeDocument/2006/relationships/slide" Target="/ppt/slides/slide1.xml" Id="Ra4340ead9f514ac6" /><Relationship Type="http://schemas.openxmlformats.org/officeDocument/2006/relationships/slide" Target="/ppt/slides/slide2.xml" Id="Rabe7022a00654490" /><Relationship Type="http://schemas.openxmlformats.org/officeDocument/2006/relationships/slide" Target="/ppt/slides/slide3.xml" Id="Rb513630e694244f6" /><Relationship Type="http://schemas.openxmlformats.org/officeDocument/2006/relationships/slide" Target="/ppt/slides/slide4.xml" Id="R8b9fb8196cec4624" /><Relationship Type="http://schemas.openxmlformats.org/officeDocument/2006/relationships/slide" Target="/ppt/slides/slide5.xml" Id="Rab3bdf5b60184073" /><Relationship Type="http://schemas.openxmlformats.org/officeDocument/2006/relationships/slide" Target="/ppt/slides/slide6.xml" Id="R7916c623b33f4e4a" /><Relationship Type="http://schemas.openxmlformats.org/officeDocument/2006/relationships/slide" Target="/ppt/slides/slide7.xml" Id="Re61ee55e4a824b61" /><Relationship Type="http://schemas.openxmlformats.org/officeDocument/2006/relationships/slide" Target="/ppt/slides/slide8.xml" Id="Rbe553258a7ce4587" /><Relationship Type="http://schemas.openxmlformats.org/officeDocument/2006/relationships/slide" Target="/ppt/slides/slide9.xml" Id="R0cb092c023a44ab4" /><Relationship Type="http://schemas.openxmlformats.org/officeDocument/2006/relationships/slide" Target="/ppt/slides/slide10.xml" Id="R385be8d4d6484084" /><Relationship Type="http://schemas.openxmlformats.org/officeDocument/2006/relationships/slide" Target="/ppt/slides/slide11.xml" Id="R51e8e1ea84214e8e" /><Relationship Type="http://schemas.openxmlformats.org/officeDocument/2006/relationships/slide" Target="/ppt/slides/slide12.xml" Id="Rf2619d639c5547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2e829729a341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ffefba49d54e8a" /><Relationship Type="http://schemas.openxmlformats.org/officeDocument/2006/relationships/notesMaster" Target="/ppt/notesMasters/notesMaster1.xml" Id="R658a4fa3f2a944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c60067d3e548c3" /><Relationship Type="http://schemas.openxmlformats.org/officeDocument/2006/relationships/notesMaster" Target="/ppt/notesMasters/notesMaster1.xml" Id="R83a92c55c39248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34680ecb6743b9" /><Relationship Type="http://schemas.openxmlformats.org/officeDocument/2006/relationships/notesMaster" Target="/ppt/notesMasters/notesMaster1.xml" Id="Re7c06e7c73dd42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61d997ff574e2e" /><Relationship Type="http://schemas.openxmlformats.org/officeDocument/2006/relationships/notesMaster" Target="/ppt/notesMasters/notesMaster1.xml" Id="R1ee77779f79042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7c8fdf48e04610" /><Relationship Type="http://schemas.openxmlformats.org/officeDocument/2006/relationships/notesMaster" Target="/ppt/notesMasters/notesMaster1.xml" Id="Re7c52019264d41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4a8a06a602477f" /><Relationship Type="http://schemas.openxmlformats.org/officeDocument/2006/relationships/notesMaster" Target="/ppt/notesMasters/notesMaster1.xml" Id="R6118a583d69c44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6a796689c44c3c" /><Relationship Type="http://schemas.openxmlformats.org/officeDocument/2006/relationships/notesMaster" Target="/ppt/notesMasters/notesMaster1.xml" Id="R113da5b9f6224d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043aa0511c4e24" /><Relationship Type="http://schemas.openxmlformats.org/officeDocument/2006/relationships/notesMaster" Target="/ppt/notesMasters/notesMaster1.xml" Id="R7a25e6babf7844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2682fba8fa4fe5" /><Relationship Type="http://schemas.openxmlformats.org/officeDocument/2006/relationships/notesMaster" Target="/ppt/notesMasters/notesMaster1.xml" Id="Ra3ab8a9c455b42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764cead4d249e6" /><Relationship Type="http://schemas.openxmlformats.org/officeDocument/2006/relationships/notesMaster" Target="/ppt/notesMasters/notesMaster1.xml" Id="Rb3f27d0243554f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27ead2994354227" /><Relationship Type="http://schemas.openxmlformats.org/officeDocument/2006/relationships/notesMaster" Target="/ppt/notesMasters/notesMaster1.xml" Id="R38ea0e84ee144dc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7b1fc9bf6c64d03" /><Relationship Type="http://schemas.openxmlformats.org/officeDocument/2006/relationships/notesMaster" Target="/ppt/notesMasters/notesMaster1.xml" Id="Rd8f60190d5414d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d4110f875e43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a299be207b4a71" /><Relationship Type="http://schemas.openxmlformats.org/officeDocument/2006/relationships/slideLayout" Target="/ppt/slideLayouts/slideLayout1.xml" Id="R58b0d3b2445740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b0d3b2445740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2da933cd9459f" /><Relationship Type="http://schemas.openxmlformats.org/officeDocument/2006/relationships/image" Target="/ppt/media/image.png" Id="R03dac4af4b6f4c1f" /><Relationship Type="http://schemas.openxmlformats.org/officeDocument/2006/relationships/image" Target="/ppt/media/image2.png" Id="Rfcb4df8d42f84819" /><Relationship Type="http://schemas.openxmlformats.org/officeDocument/2006/relationships/image" Target="/ppt/media/image3.png" Id="Rced91fe04e0b42c9" /><Relationship Type="http://schemas.openxmlformats.org/officeDocument/2006/relationships/notesSlide" Target="/ppt/notesSlides/notesSlide1.xml" Id="Re31822e75c574a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361c8d6c254cec" /><Relationship Type="http://schemas.openxmlformats.org/officeDocument/2006/relationships/image" Target="/ppt/media/image4.png" Id="R101c893d56d14d63" /><Relationship Type="http://schemas.openxmlformats.org/officeDocument/2006/relationships/notesSlide" Target="/ppt/notesSlides/notesSlide2.xml" Id="R1bf4bb17b6b24c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df63c53b342d5" /><Relationship Type="http://schemas.openxmlformats.org/officeDocument/2006/relationships/image" Target="/ppt/media/image5.png" Id="R5ef536bff1f4439f" /><Relationship Type="http://schemas.openxmlformats.org/officeDocument/2006/relationships/notesSlide" Target="/ppt/notesSlides/notesSlide3.xml" Id="R91f7d244ab3447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0f0da81acc45ef" /><Relationship Type="http://schemas.openxmlformats.org/officeDocument/2006/relationships/image" Target="/ppt/media/image6.png" Id="Raa620d9771704300" /><Relationship Type="http://schemas.openxmlformats.org/officeDocument/2006/relationships/image" Target="/ppt/media/image7.png" Id="R17d7ea631aa842f9" /><Relationship Type="http://schemas.openxmlformats.org/officeDocument/2006/relationships/notesSlide" Target="/ppt/notesSlides/notesSlide4.xml" Id="R6626a1141e5f4d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7aa499c0641ad" /><Relationship Type="http://schemas.openxmlformats.org/officeDocument/2006/relationships/image" Target="/ppt/media/image8.png" Id="R10054789b9e643a3" /><Relationship Type="http://schemas.openxmlformats.org/officeDocument/2006/relationships/image" Target="/ppt/media/image9.png" Id="R1e38d0809538483c" /><Relationship Type="http://schemas.openxmlformats.org/officeDocument/2006/relationships/notesSlide" Target="/ppt/notesSlides/notesSlide5.xml" Id="Rc0507455815442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49a91fcae4dd1" /><Relationship Type="http://schemas.openxmlformats.org/officeDocument/2006/relationships/image" Target="/ppt/media/image10.png" Id="R2dc98250106b4003" /><Relationship Type="http://schemas.openxmlformats.org/officeDocument/2006/relationships/image" Target="/ppt/media/image11.png" Id="Re01ca6d2196a44bb" /><Relationship Type="http://schemas.openxmlformats.org/officeDocument/2006/relationships/notesSlide" Target="/ppt/notesSlides/notesSlide6.xml" Id="Rf371197a6ec249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f14ea5d2d4f7a" /><Relationship Type="http://schemas.openxmlformats.org/officeDocument/2006/relationships/image" Target="/ppt/media/image12.png" Id="R0313efe451674666" /><Relationship Type="http://schemas.openxmlformats.org/officeDocument/2006/relationships/image" Target="/ppt/media/image13.png" Id="R731dd974422c44ae" /><Relationship Type="http://schemas.openxmlformats.org/officeDocument/2006/relationships/notesSlide" Target="/ppt/notesSlides/notesSlide7.xml" Id="R76d6ba0f0a0b4a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3b21ddff641cd" /><Relationship Type="http://schemas.openxmlformats.org/officeDocument/2006/relationships/image" Target="/ppt/media/image14.png" Id="R435a443f05d44200" /><Relationship Type="http://schemas.openxmlformats.org/officeDocument/2006/relationships/notesSlide" Target="/ppt/notesSlides/notesSlide8.xml" Id="Reb86976e2b5c4b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f240db22d4a86" /><Relationship Type="http://schemas.openxmlformats.org/officeDocument/2006/relationships/image" Target="/ppt/media/image15.png" Id="R2a1275fdb922438c" /><Relationship Type="http://schemas.openxmlformats.org/officeDocument/2006/relationships/notesSlide" Target="/ppt/notesSlides/notesSlide9.xml" Id="Rfb2f246170f6448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bd869fd8c4853" /><Relationship Type="http://schemas.openxmlformats.org/officeDocument/2006/relationships/image" Target="/ppt/media/image16.png" Id="R2cff0f61de664d96" /><Relationship Type="http://schemas.openxmlformats.org/officeDocument/2006/relationships/image" Target="/ppt/media/image17.png" Id="Reee75563c7df4f6b" /><Relationship Type="http://schemas.openxmlformats.org/officeDocument/2006/relationships/notesSlide" Target="/ppt/notesSlides/notesSlide10.xml" Id="R24750cd3a51b4d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1de0f1aea48f3" /><Relationship Type="http://schemas.openxmlformats.org/officeDocument/2006/relationships/image" Target="/ppt/media/image18.png" Id="R4c57280cb42842db" /><Relationship Type="http://schemas.openxmlformats.org/officeDocument/2006/relationships/notesSlide" Target="/ppt/notesSlides/notesSlide11.xml" Id="Re096b272f38347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0514d237c4dcc" /><Relationship Type="http://schemas.openxmlformats.org/officeDocument/2006/relationships/image" Target="/ppt/media/image19.png" Id="Rc7dca63642ac4645" /><Relationship Type="http://schemas.openxmlformats.org/officeDocument/2006/relationships/image" Target="/ppt/media/image20.png" Id="R44ea31adcec74dd3" /><Relationship Type="http://schemas.openxmlformats.org/officeDocument/2006/relationships/notesSlide" Target="/ppt/notesSlides/notesSlide12.xml" Id="R09df433d1dab48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1F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AFD647E-F223-4F56-950B-728B22B2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2EA"/>
                </a:solidFill>
              </a:defRPr>
            </a:pPr>
            <a:r>
              <a:rPr sz="1800" b="1">
                <a:solidFill>
                  <a:srgbClr val="F7F2EA"/>
                </a:solidFill>
              </a:rPr>
              <a:t>01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dac4af4b6f4c1f"/>
          <a:stretch xmlns:a="http://schemas.openxmlformats.org/drawingml/2006/main"/>
        </p:blipFill>
        <p:spPr>
          <a:xfrm xmlns:a="http://schemas.openxmlformats.org/drawingml/2006/main">
            <a:off x="12715875" y="378835"/>
            <a:ext cx="1809750" cy="575830"/>
          </a:xfrm>
          <a:prstGeom xmlns:a="http://schemas.openxmlformats.org/drawingml/2006/main" prst="rect">
            <a:avLst/>
          </a:prstGeom>
        </p:spPr>
      </p:pic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A1E1B49-E781-4530-A8F1-FB6887B1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0200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2EA"/>
                </a:solidFill>
              </a:defRPr>
            </a:pPr>
            <a:r>
              <a:rPr sz="1125" b="1">
                <a:solidFill>
                  <a:srgbClr val="F7F2EA"/>
                </a:solidFill>
              </a:rPr>
              <a:t>PESSOAS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174A9004-8D35-4CFE-A03D-48646D65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809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B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4FB001F-C251-41DA-BE8A-8C85042A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200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2EA"/>
                </a:solidFill>
              </a:defRPr>
            </a:pPr>
            <a:r>
              <a:rPr sz="1125" b="1">
                <a:solidFill>
                  <a:srgbClr val="F7F2EA"/>
                </a:solidFill>
              </a:rPr>
              <a:t>DADOS</a:t>
            </a:r>
          </a:p>
        </p:txBody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7FD6D348-7B92-4A91-9068-7FAC3C6B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809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94DE74D-16AF-4540-AA9A-73B5BA28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80200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2EA"/>
                </a:solidFill>
              </a:defRPr>
            </a:pPr>
            <a:r>
              <a:rPr sz="1125" b="1">
                <a:solidFill>
                  <a:srgbClr val="F7F2EA"/>
                </a:solidFill>
              </a:rPr>
              <a:t>RESULTADOS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4C4937E-C4F8-447B-A522-3B25525E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666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7F2EA"/>
                </a:solidFill>
              </a:defRPr>
            </a:pPr>
            <a:r>
              <a:rPr sz="4200" b="1">
                <a:solidFill>
                  <a:srgbClr val="F7F2EA"/>
                </a:solidFill>
              </a:rPr>
              <a:t>O lucro do evento começa nas pessoas.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158445B-BDE1-41B3-AD3C-E71BBF8F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2EA"/>
                </a:solidFill>
              </a:defRPr>
            </a:pPr>
            <a:r>
              <a:rPr sz="2025" b="0">
                <a:solidFill>
                  <a:srgbClr val="F7F2EA"/>
                </a:solidFill>
              </a:rPr>
              <a:t>O HUB conecta quem constrói, quem viabiliza e quem participa aos resultados do negócio.</a:t>
            </a:r>
          </a:p>
        </p:txBody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9E26A365-60A3-4E07-B8D1-7E6BD3DE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6096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F4B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419E2A8-D4A6-4A05-AA68-ECA42FD6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14825"/>
            <a:ext cx="561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Pessoas certas. Eventos mais rentáveis.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b4df8d42f84819"/>
          <a:srcRect xmlns:a="http://schemas.openxmlformats.org/drawingml/2006/main" l="3753" t="0" r="37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0" y="1428750"/>
            <a:ext cx="6191250" cy="4762500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d91fe04e0b42c9"/>
          <a:srcRect xmlns:a="http://schemas.openxmlformats.org/drawingml/2006/main" l="0" t="28205" r="0" b="282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87000" y="6191250"/>
            <a:ext cx="4953000" cy="2381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7294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9C88FF02-0EB2-43C7-89F4-C022F541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1F35"/>
                </a:solidFill>
              </a:defRPr>
            </a:pPr>
            <a:r>
              <a:rPr sz="1800" b="1">
                <a:solidFill>
                  <a:srgbClr val="001F35"/>
                </a:solidFill>
              </a:rPr>
              <a:t>02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1c893d56d14d63"/>
          <a:stretch xmlns:a="http://schemas.openxmlformats.org/drawingml/2006/main"/>
        </p:blipFill>
        <p:spPr>
          <a:xfrm xmlns:a="http://schemas.openxmlformats.org/drawingml/2006/main">
            <a:off x="12740217" y="361950"/>
            <a:ext cx="1761067" cy="609600"/>
          </a:xfrm>
          <a:prstGeom xmlns:a="http://schemas.openxmlformats.org/drawingml/2006/main" prst="rect">
            <a:avLst/>
          </a:prstGeom>
        </p:spPr>
      </p:pic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36D8F66-5CAA-40BA-8B7B-26E0B653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0200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1F35"/>
                </a:solidFill>
              </a:defRPr>
            </a:pPr>
            <a:r>
              <a:rPr sz="1125" b="1">
                <a:solidFill>
                  <a:srgbClr val="001F35"/>
                </a:solidFill>
              </a:rPr>
              <a:t>PESSOAS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931450D3-7F90-4C9B-9E9F-2FA3DFE8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809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B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CDD0B64-2179-4D1F-B92A-BA7AEC17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200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1F35"/>
                </a:solidFill>
              </a:defRPr>
            </a:pPr>
            <a:r>
              <a:rPr sz="1125" b="1">
                <a:solidFill>
                  <a:srgbClr val="001F35"/>
                </a:solidFill>
              </a:rPr>
              <a:t>DADOS</a:t>
            </a:r>
          </a:p>
        </p:txBody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441C9978-1815-456E-8EEB-89DF4F9C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809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09FCF81-459A-46D4-BFD3-E7A85213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80200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1F35"/>
                </a:solidFill>
              </a:defRPr>
            </a:pPr>
            <a:r>
              <a:rPr sz="1125" b="1">
                <a:solidFill>
                  <a:srgbClr val="001F35"/>
                </a:solidFill>
              </a:rPr>
              <a:t>RESULTADOS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A32F1F3-ADAA-454F-BD19-9F3106AA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1F35"/>
                </a:solidFill>
              </a:defRPr>
            </a:pPr>
            <a:r>
              <a:rPr sz="3450" b="1">
                <a:solidFill>
                  <a:srgbClr val="001F35"/>
                </a:solidFill>
              </a:rPr>
              <a:t>Eventos sabem quanto gastam.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0DCFB44-E397-4957-A19C-16B987E0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95425"/>
            <a:ext cx="1143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EF4B3E"/>
                </a:solidFill>
              </a:defRPr>
            </a:pPr>
            <a:r>
              <a:rPr sz="3450" b="1">
                <a:solidFill>
                  <a:srgbClr val="EF4B3E"/>
                </a:solidFill>
              </a:rPr>
              <a:t>Mas ainda não sabem quanto as pessoas geram.</a:t>
            </a:r>
          </a:p>
        </p:txBody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CF355084-B2CC-4DD8-92BA-D966BBE4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B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E202EC5-077A-4AF4-91DE-0E93B747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81375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CE01CD5-A47C-4E5B-8AEE-24CB95F7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910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F4B3E"/>
                </a:solidFill>
              </a:defRPr>
            </a:pPr>
            <a:r>
              <a:rPr sz="1650" b="1">
                <a:solidFill>
                  <a:srgbClr val="EF4B3E"/>
                </a:solidFill>
              </a:rPr>
              <a:t>COLABORADORES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02AC8BE-F4DA-4F2D-8FDA-C01F6D1A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0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82A3C"/>
                </a:solidFill>
              </a:defRPr>
            </a:pPr>
            <a:r>
              <a:rPr sz="1725" b="0">
                <a:solidFill>
                  <a:srgbClr val="082A3C"/>
                </a:solidFill>
              </a:rPr>
              <a:t>competência, produtividade e permanência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BE37BE-490E-4417-B8C9-DD4EF23B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1975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B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hape">
            <a:extLst xmlns:a="http://schemas.openxmlformats.org/drawingml/2006/main">
              <a:ext uri="{FF2B5EF4-FFF2-40B4-BE49-F238E27FC236}">
                <a16:creationId xmlns:a16="http://schemas.microsoft.com/office/drawing/2014/main" id="{51609EED-CFF0-476C-AEAD-37B5A1A3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528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2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8EEDA21-3C98-4FFB-8915-BDBA740A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81375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2FA269F-2D83-4022-BF78-2FCD8260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1910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A2D6E"/>
                </a:solidFill>
              </a:defRPr>
            </a:pPr>
            <a:r>
              <a:rPr sz="1650" b="1">
                <a:solidFill>
                  <a:srgbClr val="5A2D6E"/>
                </a:solidFill>
              </a:rPr>
              <a:t>FORNECEDORES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C7C9192-9E05-403B-8187-3708F27C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572000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82A3C"/>
                </a:solidFill>
              </a:defRPr>
            </a:pPr>
            <a:r>
              <a:rPr sz="1725" b="0">
                <a:solidFill>
                  <a:srgbClr val="082A3C"/>
                </a:solidFill>
              </a:rPr>
              <a:t>qualidade, prazo e eficiência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5298E4-7FC4-4F1F-8F41-DD782010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61975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hape">
            <a:extLst xmlns:a="http://schemas.openxmlformats.org/drawingml/2006/main">
              <a:ext uri="{FF2B5EF4-FFF2-40B4-BE49-F238E27FC236}">
                <a16:creationId xmlns:a16="http://schemas.microsoft.com/office/drawing/2014/main" id="{D1B76B6A-ABE3-4A7D-B8CE-C4BDBCDA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3528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132762B-4534-4996-9A74-1C936267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81375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558BBFE-A1D0-4499-AB94-A4A10D3B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1910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A6A7E"/>
                </a:solidFill>
              </a:defRPr>
            </a:pPr>
            <a:r>
              <a:rPr sz="1650" b="1">
                <a:solidFill>
                  <a:srgbClr val="2A6A7E"/>
                </a:solidFill>
              </a:rPr>
              <a:t>PÚBLICO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E970C48-6DAE-4D25-95AB-53B6D78B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572000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82A3C"/>
                </a:solidFill>
              </a:defRPr>
            </a:pPr>
            <a:r>
              <a:rPr sz="1725" b="0">
                <a:solidFill>
                  <a:srgbClr val="082A3C"/>
                </a:solidFill>
              </a:rPr>
              <a:t>experiência, consumo e recorrência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91C569-E609-4654-8F59-0E6CD040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561975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8640280F-5C51-4325-832E-A4455D24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334125"/>
            <a:ext cx="1352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1F35"/>
                </a:solidFill>
              </a:defRPr>
            </a:pPr>
            <a:r>
              <a:rPr sz="2250" b="1">
                <a:solidFill>
                  <a:srgbClr val="001F35"/>
                </a:solidFill>
              </a:rPr>
              <a:t>O problema não é falta de dados. É a desconexão entre pessoas, operação e resultado.</a:t>
            </a:r>
          </a:p>
        </p:txBody>
      </p:sp>
    </p:spTree>
    <p:extLst>
      <p:ext uri="{BB962C8B-B14F-4D97-AF65-F5344CB8AC3E}">
        <p14:creationId xmlns:p14="http://schemas.microsoft.com/office/powerpoint/2010/main" val="17336630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CD65762B-6CDD-4ED5-92A7-4CB7FE41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1F35"/>
                </a:solidFill>
              </a:defRPr>
            </a:pPr>
            <a:r>
              <a:rPr sz="1800" b="1">
                <a:solidFill>
                  <a:srgbClr val="001F35"/>
                </a:solidFill>
              </a:rPr>
              <a:t>03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f536bff1f4439f"/>
          <a:stretch xmlns:a="http://schemas.openxmlformats.org/drawingml/2006/main"/>
        </p:blipFill>
        <p:spPr>
          <a:xfrm xmlns:a="http://schemas.openxmlformats.org/drawingml/2006/main">
            <a:off x="12740217" y="361950"/>
            <a:ext cx="1761067" cy="609600"/>
          </a:xfrm>
          <a:prstGeom xmlns:a="http://schemas.openxmlformats.org/drawingml/2006/main" prst="rect">
            <a:avLst/>
          </a:prstGeom>
        </p:spPr>
      </p:pic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15AB3C9-E829-4BD7-A72E-8728F4A9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0200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1F35"/>
                </a:solidFill>
              </a:defRPr>
            </a:pPr>
            <a:r>
              <a:rPr sz="1125" b="1">
                <a:solidFill>
                  <a:srgbClr val="001F35"/>
                </a:solidFill>
              </a:rPr>
              <a:t>PESSOAS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6196D105-1CBF-4D41-9ABE-84ED3DF3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809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B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5E04A6B-5487-4EB2-A957-B98A3C09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200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1F35"/>
                </a:solidFill>
              </a:defRPr>
            </a:pPr>
            <a:r>
              <a:rPr sz="1125" b="1">
                <a:solidFill>
                  <a:srgbClr val="001F35"/>
                </a:solidFill>
              </a:rPr>
              <a:t>DADOS</a:t>
            </a:r>
          </a:p>
        </p:txBody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D9E49812-8AED-4828-9B4B-9AFF77A7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809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7205191-4A71-49EB-93E1-A87F267D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80200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1F35"/>
                </a:solidFill>
              </a:defRPr>
            </a:pPr>
            <a:r>
              <a:rPr sz="1125" b="1">
                <a:solidFill>
                  <a:srgbClr val="001F35"/>
                </a:solidFill>
              </a:rPr>
              <a:t>RESULTADOS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5E8CC59-28BA-46DE-821D-FE1C5ADB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123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1F35"/>
                </a:solidFill>
              </a:defRPr>
            </a:pPr>
            <a:r>
              <a:rPr sz="3750" b="1">
                <a:solidFill>
                  <a:srgbClr val="001F35"/>
                </a:solidFill>
              </a:rPr>
              <a:t>Três grupos de pessoas movimentam cada evento.</a:t>
            </a:r>
          </a:p>
        </p:txBody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F110B016-AB20-4A19-BC1F-80854BD1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3815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EC2"/>
            </a:solidFill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D8AA51B1-BDA0-4F7A-A170-711A6435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B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118C5AB-AD11-4E5C-BCF0-5E7F6A1B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67025"/>
            <a:ext cx="53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DBBB750-E1C3-45CE-94F1-7829425C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052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F4B3E"/>
                </a:solidFill>
              </a:defRPr>
            </a:pPr>
            <a:r>
              <a:rPr sz="1650" b="1">
                <a:solidFill>
                  <a:srgbClr val="EF4B3E"/>
                </a:solidFill>
              </a:rPr>
              <a:t>QUEM CONSTRÓI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7915B2B-DC87-4F6B-9808-88BBB964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81500"/>
            <a:ext cx="3524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2A3C"/>
                </a:solidFill>
              </a:defRPr>
            </a:pPr>
            <a:r>
              <a:rPr sz="1875" b="0">
                <a:solidFill>
                  <a:srgbClr val="082A3C"/>
                </a:solidFill>
              </a:rPr>
              <a:t>colaboradores • candidatos • artistas • especialistas</a:t>
            </a:r>
          </a:p>
        </p:txBody>
      </p:sp>
      <p:sp>
        <p:nvSpPr>
          <p:cNvPr id="14" name="shape">
            <a:extLst xmlns:a="http://schemas.openxmlformats.org/drawingml/2006/main">
              <a:ext uri="{FF2B5EF4-FFF2-40B4-BE49-F238E27FC236}">
                <a16:creationId xmlns:a16="http://schemas.microsoft.com/office/drawing/2014/main" id="{954419A6-7164-496D-9426-431FB48B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76500"/>
            <a:ext cx="43815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EC2"/>
            </a:solidFill>
            <a:prstDash val="solid"/>
          </a:ln>
        </p:spPr>
      </p:sp>
      <p:sp>
        <p:nvSpPr>
          <p:cNvPr id="15" name="shape">
            <a:extLst xmlns:a="http://schemas.openxmlformats.org/drawingml/2006/main">
              <a:ext uri="{FF2B5EF4-FFF2-40B4-BE49-F238E27FC236}">
                <a16:creationId xmlns:a16="http://schemas.microsoft.com/office/drawing/2014/main" id="{F9F998F0-2899-4EF9-9815-32B9B461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813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2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3D67906-0A95-4928-AECE-0D35493C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67025"/>
            <a:ext cx="53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439605A-5F8B-463D-8EE6-2B991186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9052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A2D6E"/>
                </a:solidFill>
              </a:defRPr>
            </a:pPr>
            <a:r>
              <a:rPr sz="1650" b="1">
                <a:solidFill>
                  <a:srgbClr val="5A2D6E"/>
                </a:solidFill>
              </a:rPr>
              <a:t>QUEM VIABILIZA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128C8EF-A20B-4F75-AB29-615E5B89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381500"/>
            <a:ext cx="3524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2A3C"/>
                </a:solidFill>
              </a:defRPr>
            </a:pPr>
            <a:r>
              <a:rPr sz="1875" b="0">
                <a:solidFill>
                  <a:srgbClr val="082A3C"/>
                </a:solidFill>
              </a:rPr>
              <a:t>fornecedores • marcas • patrocinadores • investidores</a:t>
            </a:r>
          </a:p>
        </p:txBody>
      </p:sp>
      <p:sp>
        <p:nvSpPr>
          <p:cNvPr id="19" name="shape">
            <a:extLst xmlns:a="http://schemas.openxmlformats.org/drawingml/2006/main">
              <a:ext uri="{FF2B5EF4-FFF2-40B4-BE49-F238E27FC236}">
                <a16:creationId xmlns:a16="http://schemas.microsoft.com/office/drawing/2014/main" id="{7C6DCD99-C14F-43FC-BC61-9423A8BC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76500"/>
            <a:ext cx="43815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EC2"/>
            </a:solidFill>
            <a:prstDash val="solid"/>
          </a:ln>
        </p:spPr>
      </p:sp>
      <p:sp>
        <p:nvSpPr>
          <p:cNvPr id="20" name="shape">
            <a:extLst xmlns:a="http://schemas.openxmlformats.org/drawingml/2006/main">
              <a:ext uri="{FF2B5EF4-FFF2-40B4-BE49-F238E27FC236}">
                <a16:creationId xmlns:a16="http://schemas.microsoft.com/office/drawing/2014/main" id="{E2E7A603-66C9-4D95-9C7F-A4AB8CE1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7813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42D75C1-E6A4-4778-9213-56EDBF4F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867025"/>
            <a:ext cx="53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D76C95E-58EA-417A-BC7C-9B60294F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9052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A6A7E"/>
                </a:solidFill>
              </a:defRPr>
            </a:pPr>
            <a:r>
              <a:rPr sz="1650" b="1">
                <a:solidFill>
                  <a:srgbClr val="2A6A7E"/>
                </a:solidFill>
              </a:rPr>
              <a:t>QUEM PARTICIPA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0A1D23F4-A8D8-48A7-BCE6-081BF254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381500"/>
            <a:ext cx="3524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2A3C"/>
                </a:solidFill>
              </a:defRPr>
            </a:pPr>
            <a:r>
              <a:rPr sz="1875" b="0">
                <a:solidFill>
                  <a:srgbClr val="082A3C"/>
                </a:solidFill>
              </a:rPr>
              <a:t>público • comunidades • convidados • consumidores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BCB0512-DC40-4CAD-97E1-BFCDB48D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390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1F35"/>
                </a:solidFill>
              </a:defRPr>
            </a:pPr>
            <a:r>
              <a:rPr sz="2550" b="1">
                <a:solidFill>
                  <a:srgbClr val="001F35"/>
                </a:solidFill>
              </a:rPr>
              <a:t>O HUB transforma essas relações em decisões mensuráveis.</a:t>
            </a:r>
          </a:p>
        </p:txBody>
      </p:sp>
    </p:spTree>
    <p:extLst>
      <p:ext uri="{BB962C8B-B14F-4D97-AF65-F5344CB8AC3E}">
        <p14:creationId xmlns:p14="http://schemas.microsoft.com/office/powerpoint/2010/main" val="977040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1F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A432477F-8322-4068-9C95-6F01C80F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2EA"/>
                </a:solidFill>
              </a:defRPr>
            </a:pPr>
            <a:r>
              <a:rPr sz="1800" b="1">
                <a:solidFill>
                  <a:srgbClr val="F7F2EA"/>
                </a:solidFill>
              </a:rPr>
              <a:t>04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620d9771704300"/>
          <a:stretch xmlns:a="http://schemas.openxmlformats.org/drawingml/2006/main"/>
        </p:blipFill>
        <p:spPr>
          <a:xfrm xmlns:a="http://schemas.openxmlformats.org/drawingml/2006/main">
            <a:off x="12715875" y="378835"/>
            <a:ext cx="1809750" cy="575830"/>
          </a:xfrm>
          <a:prstGeom xmlns:a="http://schemas.openxmlformats.org/drawingml/2006/main" prst="rect">
            <a:avLst/>
          </a:prstGeom>
        </p:spPr>
      </p:pic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3D2F268-21D7-4CE2-B0E4-70189AFB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0200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2EA"/>
                </a:solidFill>
              </a:defRPr>
            </a:pPr>
            <a:r>
              <a:rPr sz="1125" b="1">
                <a:solidFill>
                  <a:srgbClr val="F7F2EA"/>
                </a:solidFill>
              </a:rPr>
              <a:t>PESSOAS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E02F11E3-E8E7-4D76-8681-E50F0A33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809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B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C4C2C49-7E64-45A8-AF6A-3785E3E9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200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2EA"/>
                </a:solidFill>
              </a:defRPr>
            </a:pPr>
            <a:r>
              <a:rPr sz="1125" b="1">
                <a:solidFill>
                  <a:srgbClr val="F7F2EA"/>
                </a:solidFill>
              </a:rPr>
              <a:t>DADOS</a:t>
            </a:r>
          </a:p>
        </p:txBody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90668365-A947-4B67-98DF-98ED22CD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809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9ECFE61-EBD6-42ED-B601-1417676D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80200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2EA"/>
                </a:solidFill>
              </a:defRPr>
            </a:pPr>
            <a:r>
              <a:rPr sz="1125" b="1">
                <a:solidFill>
                  <a:srgbClr val="F7F2EA"/>
                </a:solidFill>
              </a:rPr>
              <a:t>RESULTADOS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C76EB0D-54A8-42DC-897D-1AE13557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7F2EA"/>
                </a:solidFill>
              </a:defRPr>
            </a:pPr>
            <a:r>
              <a:rPr sz="3900" b="1">
                <a:solidFill>
                  <a:srgbClr val="F7F2EA"/>
                </a:solidFill>
              </a:rPr>
              <a:t>Cada evento vira um projeto de negócio.</a:t>
            </a:r>
          </a:p>
        </p:txBody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29CF7AD2-93F6-4ACE-8935-A885C399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2476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92B42"/>
          </a:solidFill>
          <a:ln xmlns:a="http://schemas.openxmlformats.org/drawingml/2006/main" w="19050">
            <a:solidFill>
              <a:srgbClr val="EF4B3E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3654145-AFD7-4AF0-B496-09147384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9527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F4B3E"/>
                </a:solidFill>
              </a:defRPr>
            </a:pPr>
            <a:r>
              <a:rPr sz="1425" b="1">
                <a:solidFill>
                  <a:srgbClr val="EF4B3E"/>
                </a:solidFill>
              </a:rPr>
              <a:t>01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95A3183-3071-4AC6-9CE6-CF541799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429000"/>
            <a:ext cx="2047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2EA"/>
                </a:solidFill>
              </a:defRPr>
            </a:pPr>
            <a:r>
              <a:rPr sz="1650" b="1">
                <a:solidFill>
                  <a:srgbClr val="F7F2EA"/>
                </a:solidFill>
              </a:rPr>
              <a:t>ESTRATÉGIA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CA5B9FD-5946-4619-B875-94095AF5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000500"/>
            <a:ext cx="204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2EA"/>
                </a:solidFill>
              </a:defRPr>
            </a:pPr>
            <a:r>
              <a:rPr sz="1350" b="0">
                <a:solidFill>
                  <a:srgbClr val="F7F2EA"/>
                </a:solidFill>
              </a:rPr>
              <a:t>objetivo, público, orçamento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8F7CFC-00D9-4964-B864-1A8D09A7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052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hape">
            <a:extLst xmlns:a="http://schemas.openxmlformats.org/drawingml/2006/main">
              <a:ext uri="{FF2B5EF4-FFF2-40B4-BE49-F238E27FC236}">
                <a16:creationId xmlns:a16="http://schemas.microsoft.com/office/drawing/2014/main" id="{B766C307-6F82-41CE-B2D4-18816521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62250"/>
            <a:ext cx="2476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92B42"/>
          </a:solidFill>
          <a:ln xmlns:a="http://schemas.openxmlformats.org/drawingml/2006/main" w="19050">
            <a:solidFill>
              <a:srgbClr val="2A6A7E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9AA0083-61A2-4E43-88D8-1795503B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9527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A2D6E"/>
                </a:solidFill>
              </a:defRPr>
            </a:pPr>
            <a:r>
              <a:rPr sz="1425" b="1">
                <a:solidFill>
                  <a:srgbClr val="5A2D6E"/>
                </a:solidFill>
              </a:rPr>
              <a:t>02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D1A480B-4F8C-4CA4-97C3-6366170A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429000"/>
            <a:ext cx="2047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2EA"/>
                </a:solidFill>
              </a:defRPr>
            </a:pPr>
            <a:r>
              <a:rPr sz="1650" b="1">
                <a:solidFill>
                  <a:srgbClr val="F7F2EA"/>
                </a:solidFill>
              </a:rPr>
              <a:t>PESSOAS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BCD6B24-E8D8-4BC9-B8A3-BEE9FB8F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000500"/>
            <a:ext cx="204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2EA"/>
                </a:solidFill>
              </a:defRPr>
            </a:pPr>
            <a:r>
              <a:rPr sz="1350" b="0">
                <a:solidFill>
                  <a:srgbClr val="F7F2EA"/>
                </a:solidFill>
              </a:rPr>
              <a:t>equipe, candidatos, competências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5916F1-69DE-4912-9DC1-1C0F430B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9052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hape">
            <a:extLst xmlns:a="http://schemas.openxmlformats.org/drawingml/2006/main">
              <a:ext uri="{FF2B5EF4-FFF2-40B4-BE49-F238E27FC236}">
                <a16:creationId xmlns:a16="http://schemas.microsoft.com/office/drawing/2014/main" id="{598D49CF-D793-4D49-B5F7-F46C965D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62250"/>
            <a:ext cx="2476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92B42"/>
          </a:solidFill>
          <a:ln xmlns:a="http://schemas.openxmlformats.org/drawingml/2006/main" w="19050">
            <a:solidFill>
              <a:srgbClr val="2A6A7E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612C2A9-3BB2-45E1-AF97-DE08E64C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9527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23A6B"/>
                </a:solidFill>
              </a:defRPr>
            </a:pPr>
            <a:r>
              <a:rPr sz="1425" b="1">
                <a:solidFill>
                  <a:srgbClr val="B23A6B"/>
                </a:solidFill>
              </a:rPr>
              <a:t>03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CF4E9E9-6B12-4002-A4DE-ADECBEBE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429000"/>
            <a:ext cx="2047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2EA"/>
                </a:solidFill>
              </a:defRPr>
            </a:pPr>
            <a:r>
              <a:rPr sz="1650" b="1">
                <a:solidFill>
                  <a:srgbClr val="F7F2EA"/>
                </a:solidFill>
              </a:rPr>
              <a:t>ECOSSISTEMA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3AA6712-42EA-444E-B342-1B57DF40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000500"/>
            <a:ext cx="204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2EA"/>
                </a:solidFill>
              </a:defRPr>
            </a:pPr>
            <a:r>
              <a:rPr sz="1350" b="0">
                <a:solidFill>
                  <a:srgbClr val="F7F2EA"/>
                </a:solidFill>
              </a:rPr>
              <a:t>fornecedores, marcas, talentos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10B750-DC7A-4A8E-8C2A-AA684D9B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9052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hape">
            <a:extLst xmlns:a="http://schemas.openxmlformats.org/drawingml/2006/main">
              <a:ext uri="{FF2B5EF4-FFF2-40B4-BE49-F238E27FC236}">
                <a16:creationId xmlns:a16="http://schemas.microsoft.com/office/drawing/2014/main" id="{EFA7A243-C389-406D-B735-E8365362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62250"/>
            <a:ext cx="2476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92B42"/>
          </a:solidFill>
          <a:ln xmlns:a="http://schemas.openxmlformats.org/drawingml/2006/main" w="19050">
            <a:solidFill>
              <a:srgbClr val="2A6A7E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B69EAFB4-5AE7-4989-92B2-85458819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9527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A6A7E"/>
                </a:solidFill>
              </a:defRPr>
            </a:pPr>
            <a:r>
              <a:rPr sz="1425" b="1">
                <a:solidFill>
                  <a:srgbClr val="2A6A7E"/>
                </a:solidFill>
              </a:rPr>
              <a:t>04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A87ECAE3-3A6F-4EDE-853A-8C7510BD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429000"/>
            <a:ext cx="2047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2EA"/>
                </a:solidFill>
              </a:defRPr>
            </a:pPr>
            <a:r>
              <a:rPr sz="1650" b="1">
                <a:solidFill>
                  <a:srgbClr val="F7F2EA"/>
                </a:solidFill>
              </a:rPr>
              <a:t>MERCADO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3FF85FFB-0E8D-48D2-8D6F-EB984365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000500"/>
            <a:ext cx="204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2EA"/>
                </a:solidFill>
              </a:defRPr>
            </a:pPr>
            <a:r>
              <a:rPr sz="1350" b="0">
                <a:solidFill>
                  <a:srgbClr val="F7F2EA"/>
                </a:solidFill>
              </a:rPr>
              <a:t>pesquisa, comportamento, consumo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DB55ED-26CB-451E-9534-1D9F975B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39052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hape">
            <a:extLst xmlns:a="http://schemas.openxmlformats.org/drawingml/2006/main">
              <a:ext uri="{FF2B5EF4-FFF2-40B4-BE49-F238E27FC236}">
                <a16:creationId xmlns:a16="http://schemas.microsoft.com/office/drawing/2014/main" id="{A2581571-F07D-46E5-86AF-68768AB1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2762250"/>
            <a:ext cx="2476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92B42"/>
          </a:solidFill>
          <a:ln xmlns:a="http://schemas.openxmlformats.org/drawingml/2006/main" w="19050">
            <a:solidFill>
              <a:srgbClr val="2A6A7E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BF907E1C-207D-489C-A2C2-B111CF98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29527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7D900"/>
                </a:solidFill>
              </a:defRPr>
            </a:pPr>
            <a:r>
              <a:rPr sz="1425" b="1">
                <a:solidFill>
                  <a:srgbClr val="B7D900"/>
                </a:solidFill>
              </a:rPr>
              <a:t>05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5F7CA7D4-4A01-4E63-98F0-0BE17D59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3429000"/>
            <a:ext cx="2047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2EA"/>
                </a:solidFill>
              </a:defRPr>
            </a:pPr>
            <a:r>
              <a:rPr sz="1650" b="1">
                <a:solidFill>
                  <a:srgbClr val="F7F2EA"/>
                </a:solidFill>
              </a:rPr>
              <a:t>RESULTADO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1F2C70AA-021B-485C-BE95-1227A3C2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4000500"/>
            <a:ext cx="2047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2EA"/>
                </a:solidFill>
              </a:defRPr>
            </a:pPr>
            <a:r>
              <a:rPr sz="1350" b="0">
                <a:solidFill>
                  <a:srgbClr val="F7F2EA"/>
                </a:solidFill>
              </a:rPr>
              <a:t>receita, custo, experiência, risco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69630ED0-BB7A-4B73-888A-686C5088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1390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7F2EA"/>
                </a:solidFill>
              </a:defRPr>
            </a:pPr>
            <a:r>
              <a:rPr sz="2550" b="1">
                <a:solidFill>
                  <a:srgbClr val="F7F2EA"/>
                </a:solidFill>
              </a:rPr>
              <a:t>Planejar → conectar → operar → pesquisar → medir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d7ea631aa842f9"/>
          <a:srcRect xmlns:a="http://schemas.openxmlformats.org/drawingml/2006/main" l="0" t="36778" r="0" b="367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0" y="6572250"/>
            <a:ext cx="6858000" cy="200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6672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A3C2EC93-DB8A-40F0-A6C4-99EDE980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1F35"/>
                </a:solidFill>
              </a:defRPr>
            </a:pPr>
            <a:r>
              <a:rPr sz="1800" b="1">
                <a:solidFill>
                  <a:srgbClr val="001F35"/>
                </a:solidFill>
              </a:rPr>
              <a:t>05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054789b9e643a3"/>
          <a:stretch xmlns:a="http://schemas.openxmlformats.org/drawingml/2006/main"/>
        </p:blipFill>
        <p:spPr>
          <a:xfrm xmlns:a="http://schemas.openxmlformats.org/drawingml/2006/main">
            <a:off x="12740217" y="361950"/>
            <a:ext cx="1761067" cy="609600"/>
          </a:xfrm>
          <a:prstGeom xmlns:a="http://schemas.openxmlformats.org/drawingml/2006/main" prst="rect">
            <a:avLst/>
          </a:prstGeom>
        </p:spPr>
      </p:pic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0601305-E42F-4877-9B0C-32392AC1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0200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1F35"/>
                </a:solidFill>
              </a:defRPr>
            </a:pPr>
            <a:r>
              <a:rPr sz="1125" b="1">
                <a:solidFill>
                  <a:srgbClr val="001F35"/>
                </a:solidFill>
              </a:rPr>
              <a:t>PESSOAS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5B3263DF-52D9-4D76-A843-9070A6F0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809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B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02260C2-95AB-4351-9580-9BBDFD45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200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1F35"/>
                </a:solidFill>
              </a:defRPr>
            </a:pPr>
            <a:r>
              <a:rPr sz="1125" b="1">
                <a:solidFill>
                  <a:srgbClr val="001F35"/>
                </a:solidFill>
              </a:rPr>
              <a:t>DADOS</a:t>
            </a:r>
          </a:p>
        </p:txBody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EEFDFDDA-2221-4118-BCC1-FC3CB0DC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809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1AB2201-D3E0-4049-9F6C-91655151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80200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1F35"/>
                </a:solidFill>
              </a:defRPr>
            </a:pPr>
            <a:r>
              <a:rPr sz="1125" b="1">
                <a:solidFill>
                  <a:srgbClr val="001F35"/>
                </a:solidFill>
              </a:rPr>
              <a:t>RESULTADOS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182C63F-4E73-4C6F-8B1C-5267A9E9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1181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1F35"/>
                </a:solidFill>
              </a:defRPr>
            </a:pPr>
            <a:r>
              <a:rPr sz="3750" b="1">
                <a:solidFill>
                  <a:srgbClr val="001F35"/>
                </a:solidFill>
              </a:rPr>
              <a:t>Uma jornada conecta intenção, execução e lucro.</a:t>
            </a:r>
          </a:p>
        </p:txBody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86B9BC05-7C33-45DB-9569-607AE256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146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B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48925EF-2184-4F3F-A81C-9624775B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361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1F1EC46-6796-41CC-89A5-438CC9FA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F4B3E"/>
                </a:solidFill>
              </a:defRPr>
            </a:pPr>
            <a:r>
              <a:rPr sz="1350" b="1">
                <a:solidFill>
                  <a:srgbClr val="EF4B3E"/>
                </a:solidFill>
              </a:rPr>
              <a:t>DIAGNOSTICAR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BBEBABC-7FEA-4EAB-8D01-07C9BCD8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82A3C"/>
                </a:solidFill>
              </a:defRPr>
            </a:pPr>
            <a:r>
              <a:rPr sz="1425" b="0">
                <a:solidFill>
                  <a:srgbClr val="082A3C"/>
                </a:solidFill>
              </a:rPr>
              <a:t>metas e orçamento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D26058-BE8E-41C0-93C6-ABDDAC59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000375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hape">
            <a:extLst xmlns:a="http://schemas.openxmlformats.org/drawingml/2006/main">
              <a:ext uri="{FF2B5EF4-FFF2-40B4-BE49-F238E27FC236}">
                <a16:creationId xmlns:a16="http://schemas.microsoft.com/office/drawing/2014/main" id="{F6A180FA-5B12-48F8-B107-CE70BEAF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146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2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96E1FAA-BCC6-4905-9197-7855C62D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781300"/>
            <a:ext cx="361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8DE4A41-A2DB-4195-8126-E126436B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667125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A2D6E"/>
                </a:solidFill>
              </a:defRPr>
            </a:pPr>
            <a:r>
              <a:rPr sz="1350" b="1">
                <a:solidFill>
                  <a:srgbClr val="5A2D6E"/>
                </a:solidFill>
              </a:rPr>
              <a:t>PLANEJAR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DD6D576-A333-4369-960E-E8EC911D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14337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82A3C"/>
                </a:solidFill>
              </a:defRPr>
            </a:pPr>
            <a:r>
              <a:rPr sz="1425" b="0">
                <a:solidFill>
                  <a:srgbClr val="082A3C"/>
                </a:solidFill>
              </a:rPr>
              <a:t>pessoas e capacidades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B2240D-5FFB-4406-8FF7-7E6C1EC0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000375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hape">
            <a:extLst xmlns:a="http://schemas.openxmlformats.org/drawingml/2006/main">
              <a:ext uri="{FF2B5EF4-FFF2-40B4-BE49-F238E27FC236}">
                <a16:creationId xmlns:a16="http://schemas.microsoft.com/office/drawing/2014/main" id="{BFD5A394-A21F-4378-BD18-B6FF8EC3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7146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3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10A3370-0F47-4EAC-B3EC-57A51349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81300"/>
            <a:ext cx="361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4AD3AE8-A078-4B0A-8B43-FD2C2666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67125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23A6B"/>
                </a:solidFill>
              </a:defRPr>
            </a:pPr>
            <a:r>
              <a:rPr sz="1350" b="1">
                <a:solidFill>
                  <a:srgbClr val="B23A6B"/>
                </a:solidFill>
              </a:rPr>
              <a:t>CONECTAR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CC05B97-912D-4D84-9B2A-D8680D29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4337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82A3C"/>
                </a:solidFill>
              </a:defRPr>
            </a:pPr>
            <a:r>
              <a:rPr sz="1425" b="0">
                <a:solidFill>
                  <a:srgbClr val="082A3C"/>
                </a:solidFill>
              </a:rPr>
              <a:t>talentos e parceiros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F94513-E7FE-4C86-A92C-7CE55FD2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00375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hape">
            <a:extLst xmlns:a="http://schemas.openxmlformats.org/drawingml/2006/main">
              <a:ext uri="{FF2B5EF4-FFF2-40B4-BE49-F238E27FC236}">
                <a16:creationId xmlns:a16="http://schemas.microsoft.com/office/drawing/2014/main" id="{C72173B6-5518-4D5D-8B11-433B90E2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146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5CE2A2C0-2570-43BF-A020-04E6DF00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781300"/>
            <a:ext cx="361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3760698E-FB93-4FB2-A217-AE501BF8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667125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A6A7E"/>
                </a:solidFill>
              </a:defRPr>
            </a:pPr>
            <a:r>
              <a:rPr sz="1350" b="1">
                <a:solidFill>
                  <a:srgbClr val="2A6A7E"/>
                </a:solidFill>
              </a:rPr>
              <a:t>OPERAR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B0E427F7-54F3-421F-8443-393BD881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14337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82A3C"/>
                </a:solidFill>
              </a:defRPr>
            </a:pPr>
            <a:r>
              <a:rPr sz="1425" b="0">
                <a:solidFill>
                  <a:srgbClr val="082A3C"/>
                </a:solidFill>
              </a:rPr>
              <a:t>experiência e protocolos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E9DDE5-59E5-4759-9555-3257E32D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000375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hape">
            <a:extLst xmlns:a="http://schemas.openxmlformats.org/drawingml/2006/main">
              <a:ext uri="{FF2B5EF4-FFF2-40B4-BE49-F238E27FC236}">
                <a16:creationId xmlns:a16="http://schemas.microsoft.com/office/drawing/2014/main" id="{C0A551E8-18F5-4174-AFEA-7363B1AA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7146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1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B9A05090-316E-44DC-A436-3266F344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781300"/>
            <a:ext cx="361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005BC7B3-7F00-4BC9-A8A9-9DF3ECF9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667125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1F35"/>
                </a:solidFill>
              </a:defRPr>
            </a:pPr>
            <a:r>
              <a:rPr sz="1350" b="1">
                <a:solidFill>
                  <a:srgbClr val="001F35"/>
                </a:solidFill>
              </a:rPr>
              <a:t>PESQUISAR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9B590FF4-2C3B-4E12-9DFA-396B6F81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14337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82A3C"/>
                </a:solidFill>
              </a:defRPr>
            </a:pPr>
            <a:r>
              <a:rPr sz="1425" b="0">
                <a:solidFill>
                  <a:srgbClr val="082A3C"/>
                </a:solidFill>
              </a:rPr>
              <a:t>percepção e mercado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3D259B-4BEA-4248-83D8-3459EEFD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000375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hape">
            <a:extLst xmlns:a="http://schemas.openxmlformats.org/drawingml/2006/main">
              <a:ext uri="{FF2B5EF4-FFF2-40B4-BE49-F238E27FC236}">
                <a16:creationId xmlns:a16="http://schemas.microsoft.com/office/drawing/2014/main" id="{C77A0368-8481-460C-8527-E30B9D22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27146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D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CF01C5B9-F47B-4A8F-B77B-EC2773C7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7825" y="2781300"/>
            <a:ext cx="361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75BAD2C1-02DA-4113-8292-B50D1DCD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3667125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D8500"/>
                </a:solidFill>
              </a:defRPr>
            </a:pPr>
            <a:r>
              <a:rPr sz="1350" b="1">
                <a:solidFill>
                  <a:srgbClr val="6D8500"/>
                </a:solidFill>
              </a:rPr>
              <a:t>MEDIR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4C5B9E4E-B0A5-4C57-808C-A38F79BD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414337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82A3C"/>
                </a:solidFill>
              </a:defRPr>
            </a:pPr>
            <a:r>
              <a:rPr sz="1425" b="0">
                <a:solidFill>
                  <a:srgbClr val="082A3C"/>
                </a:solidFill>
              </a:rPr>
              <a:t>valor gerado e protegido</a:t>
            </a:r>
          </a:p>
        </p:txBody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38d0809538483c"/>
          <a:srcRect xmlns:a="http://schemas.openxmlformats.org/drawingml/2006/main" l="0" t="23647" r="0" b="236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0" y="5334000"/>
            <a:ext cx="5334000" cy="2000250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949D9C6D-03EA-4F0A-B62A-4C8FF7EB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733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1F35"/>
                </a:solidFill>
              </a:defRPr>
            </a:pPr>
            <a:r>
              <a:rPr sz="1950" b="1">
                <a:solidFill>
                  <a:srgbClr val="001F35"/>
                </a:solidFill>
              </a:rPr>
              <a:t>A diversidade acompanha todas as etapas como lente de qualidade, acesso e redução de risco.</a:t>
            </a:r>
          </a:p>
        </p:txBody>
      </p:sp>
    </p:spTree>
    <p:extLst>
      <p:ext uri="{BB962C8B-B14F-4D97-AF65-F5344CB8AC3E}">
        <p14:creationId xmlns:p14="http://schemas.microsoft.com/office/powerpoint/2010/main" val="20515994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34DA231-B2E8-4E87-A1AB-A1A9B0F2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1F35"/>
                </a:solidFill>
              </a:defRPr>
            </a:pPr>
            <a:r>
              <a:rPr sz="1800" b="1">
                <a:solidFill>
                  <a:srgbClr val="001F35"/>
                </a:solidFill>
              </a:rPr>
              <a:t>06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c98250106b4003"/>
          <a:stretch xmlns:a="http://schemas.openxmlformats.org/drawingml/2006/main"/>
        </p:blipFill>
        <p:spPr>
          <a:xfrm xmlns:a="http://schemas.openxmlformats.org/drawingml/2006/main">
            <a:off x="12740217" y="361950"/>
            <a:ext cx="1761067" cy="609600"/>
          </a:xfrm>
          <a:prstGeom xmlns:a="http://schemas.openxmlformats.org/drawingml/2006/main" prst="rect">
            <a:avLst/>
          </a:prstGeom>
        </p:spPr>
      </p:pic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BDDAB45-13A4-475A-B193-349883D5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0200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1F35"/>
                </a:solidFill>
              </a:defRPr>
            </a:pPr>
            <a:r>
              <a:rPr sz="1125" b="1">
                <a:solidFill>
                  <a:srgbClr val="001F35"/>
                </a:solidFill>
              </a:rPr>
              <a:t>PESSOAS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B68703CB-C64A-45A9-8EFA-193F58CE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809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B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404A8CF-8AAA-41C4-B8BD-B348E4B7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200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1F35"/>
                </a:solidFill>
              </a:defRPr>
            </a:pPr>
            <a:r>
              <a:rPr sz="1125" b="1">
                <a:solidFill>
                  <a:srgbClr val="001F35"/>
                </a:solidFill>
              </a:rPr>
              <a:t>DADOS</a:t>
            </a:r>
          </a:p>
        </p:txBody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FFA94C64-951B-409E-9813-B3B75BB4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809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7FC7BF3-9A62-42A1-8F58-AB6A4EB5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80200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1F35"/>
                </a:solidFill>
              </a:defRPr>
            </a:pPr>
            <a:r>
              <a:rPr sz="1125" b="1">
                <a:solidFill>
                  <a:srgbClr val="001F35"/>
                </a:solidFill>
              </a:rPr>
              <a:t>RESULTADOS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94900BC-8913-4E1C-879A-95D2C632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1181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1F35"/>
                </a:solidFill>
              </a:defRPr>
            </a:pPr>
            <a:r>
              <a:rPr sz="3600" b="1">
                <a:solidFill>
                  <a:srgbClr val="001F35"/>
                </a:solidFill>
              </a:rPr>
              <a:t>Pessoas certas melhoram produtividade e experiência.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ca6d2196a44bb"/>
          <a:srcRect xmlns:a="http://schemas.openxmlformats.org/drawingml/2006/main" l="2330" t="0" r="2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" y="2238375"/>
            <a:ext cx="6381750" cy="4762500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C3798774-ACDD-40AB-A935-64075BB6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438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B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3D2B468-6BF0-4277-A52D-7F701E20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8125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F4B3E"/>
                </a:solidFill>
              </a:defRPr>
            </a:pPr>
            <a:r>
              <a:rPr sz="1650" b="1">
                <a:solidFill>
                  <a:srgbClr val="EF4B3E"/>
                </a:solidFill>
              </a:rPr>
              <a:t>MATCH DE CANDIDATOS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6C055A5-7DC8-41F8-B8D2-287CD2B5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81300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82A3C"/>
                </a:solidFill>
              </a:defRPr>
            </a:pPr>
            <a:r>
              <a:rPr sz="1725" b="0">
                <a:solidFill>
                  <a:srgbClr val="082A3C"/>
                </a:solidFill>
              </a:rPr>
              <a:t>competência, disponibilidade e aderência ao evento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A23C7C-DB1A-4C86-B349-0813080B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242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hape">
            <a:extLst xmlns:a="http://schemas.openxmlformats.org/drawingml/2006/main">
              <a:ext uri="{FF2B5EF4-FFF2-40B4-BE49-F238E27FC236}">
                <a16:creationId xmlns:a16="http://schemas.microsoft.com/office/drawing/2014/main" id="{FDB85DA7-E822-4D92-81CE-377CB5DF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9147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2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076FF20-AEB8-4ABE-BF6E-31392D57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57625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A2D6E"/>
                </a:solidFill>
              </a:defRPr>
            </a:pPr>
            <a:r>
              <a:rPr sz="1650" b="1">
                <a:solidFill>
                  <a:srgbClr val="5A2D6E"/>
                </a:solidFill>
              </a:rPr>
              <a:t>GESTÃO DE COLABORADORES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A5A9B2E-AB82-4FAF-A1DB-66D20207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57675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82A3C"/>
                </a:solidFill>
              </a:defRPr>
            </a:pPr>
            <a:r>
              <a:rPr sz="1725" b="0">
                <a:solidFill>
                  <a:srgbClr val="082A3C"/>
                </a:solidFill>
              </a:rPr>
              <a:t>escala, formação, desempenho e permanência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EEB870-5443-483B-9BE0-7C9125A1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0062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hape">
            <a:extLst xmlns:a="http://schemas.openxmlformats.org/drawingml/2006/main">
              <a:ext uri="{FF2B5EF4-FFF2-40B4-BE49-F238E27FC236}">
                <a16:creationId xmlns:a16="http://schemas.microsoft.com/office/drawing/2014/main" id="{AF943CB6-D601-45E9-8FE9-DF0455CC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391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54AD4DB-F72F-4E2E-869B-8B4F4381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33400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A6A7E"/>
                </a:solidFill>
              </a:defRPr>
            </a:pPr>
            <a:r>
              <a:rPr sz="1650" b="1">
                <a:solidFill>
                  <a:srgbClr val="2A6A7E"/>
                </a:solidFill>
              </a:rPr>
              <a:t>EXPERIÊNCIA DA EQUIPE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857174C-5BFB-4393-B902-CC3FE1F8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734050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82A3C"/>
                </a:solidFill>
              </a:defRPr>
            </a:pPr>
            <a:r>
              <a:rPr sz="1725" b="0">
                <a:solidFill>
                  <a:srgbClr val="082A3C"/>
                </a:solidFill>
              </a:rPr>
              <a:t>segurança, pertencimento e capacidade de entrega</a:t>
            </a:r>
          </a:p>
        </p:txBody>
      </p:sp>
    </p:spTree>
    <p:extLst>
      <p:ext uri="{BB962C8B-B14F-4D97-AF65-F5344CB8AC3E}">
        <p14:creationId xmlns:p14="http://schemas.microsoft.com/office/powerpoint/2010/main" val="21266825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85FC9F8-D91A-47AC-9904-EFF3D54F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1F35"/>
                </a:solidFill>
              </a:defRPr>
            </a:pPr>
            <a:r>
              <a:rPr sz="1800" b="1">
                <a:solidFill>
                  <a:srgbClr val="001F35"/>
                </a:solidFill>
              </a:rPr>
              <a:t>07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13efe451674666"/>
          <a:stretch xmlns:a="http://schemas.openxmlformats.org/drawingml/2006/main"/>
        </p:blipFill>
        <p:spPr>
          <a:xfrm xmlns:a="http://schemas.openxmlformats.org/drawingml/2006/main">
            <a:off x="12740217" y="361950"/>
            <a:ext cx="1761067" cy="609600"/>
          </a:xfrm>
          <a:prstGeom xmlns:a="http://schemas.openxmlformats.org/drawingml/2006/main" prst="rect">
            <a:avLst/>
          </a:prstGeom>
        </p:spPr>
      </p:pic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3AF231F-0EC9-4328-8754-EE85D58B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0200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1F35"/>
                </a:solidFill>
              </a:defRPr>
            </a:pPr>
            <a:r>
              <a:rPr sz="1125" b="1">
                <a:solidFill>
                  <a:srgbClr val="001F35"/>
                </a:solidFill>
              </a:rPr>
              <a:t>PESSOAS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41CFC40C-8E5C-434B-B32F-20728194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809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B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32B0FB4-8A99-4372-B3BE-A722D99E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200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1F35"/>
                </a:solidFill>
              </a:defRPr>
            </a:pPr>
            <a:r>
              <a:rPr sz="1125" b="1">
                <a:solidFill>
                  <a:srgbClr val="001F35"/>
                </a:solidFill>
              </a:rPr>
              <a:t>DADOS</a:t>
            </a:r>
          </a:p>
        </p:txBody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185BF474-EB4F-4313-B24B-7F1A1991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809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259FA4E-F9F2-4019-8C1F-ED150D6A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80200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1F35"/>
                </a:solidFill>
              </a:defRPr>
            </a:pPr>
            <a:r>
              <a:rPr sz="1125" b="1">
                <a:solidFill>
                  <a:srgbClr val="001F35"/>
                </a:solidFill>
              </a:rPr>
              <a:t>RESULTADOS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0D85153-1795-430B-B202-87A052F9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1209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01F35"/>
                </a:solidFill>
              </a:defRPr>
            </a:pPr>
            <a:r>
              <a:rPr sz="3375" b="1">
                <a:solidFill>
                  <a:srgbClr val="001F35"/>
                </a:solidFill>
              </a:rPr>
              <a:t>Fornecedores, marcas e talentos entram pela mesma inteligência.</a:t>
            </a:r>
          </a:p>
        </p:txBody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588690EB-0406-499B-8CE8-0AD658E2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669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B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CC6BFDB-F475-4880-B470-FFBB43A9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2887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F4B3E"/>
                </a:solidFill>
              </a:defRPr>
            </a:pPr>
            <a:r>
              <a:rPr sz="1650" b="1">
                <a:solidFill>
                  <a:srgbClr val="EF4B3E"/>
                </a:solidFill>
              </a:rPr>
              <a:t>FORNECEDORES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E38BF9B-3B1A-42A4-B665-CFC07793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28925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82A3C"/>
                </a:solidFill>
              </a:defRPr>
            </a:pPr>
            <a:r>
              <a:rPr sz="1725" b="0">
                <a:solidFill>
                  <a:srgbClr val="082A3C"/>
                </a:solidFill>
              </a:rPr>
              <a:t>capacidade, prazo, custo e histórico</a:t>
            </a:r>
          </a:p>
        </p:txBody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705C32F0-61F3-47E6-849F-22A17FCA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957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2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B57C2EA-75D5-4B78-BCE7-2F5B402F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5762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A2D6E"/>
                </a:solidFill>
              </a:defRPr>
            </a:pPr>
            <a:r>
              <a:rPr sz="1650" b="1">
                <a:solidFill>
                  <a:srgbClr val="5A2D6E"/>
                </a:solidFill>
              </a:rPr>
              <a:t>ARTISTAS &amp; CREATORS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CDA6E78-0B05-42B9-8D6E-C7EEE8C1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57675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82A3C"/>
                </a:solidFill>
              </a:defRPr>
            </a:pPr>
            <a:r>
              <a:rPr sz="1725" b="0">
                <a:solidFill>
                  <a:srgbClr val="082A3C"/>
                </a:solidFill>
              </a:rPr>
              <a:t>aderência ao público e potencial de alcance</a:t>
            </a:r>
          </a:p>
        </p:txBody>
      </p:sp>
      <p:sp>
        <p:nvSpPr>
          <p:cNvPr id="15" name="shape">
            <a:extLst xmlns:a="http://schemas.openxmlformats.org/drawingml/2006/main">
              <a:ext uri="{FF2B5EF4-FFF2-40B4-BE49-F238E27FC236}">
                <a16:creationId xmlns:a16="http://schemas.microsoft.com/office/drawing/2014/main" id="{D84C61D5-4054-420D-A197-A8DC9A89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3244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8AECFFF-6857-46A8-9E30-244880F0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8637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A6A7E"/>
                </a:solidFill>
              </a:defRPr>
            </a:pPr>
            <a:r>
              <a:rPr sz="1650" b="1">
                <a:solidFill>
                  <a:srgbClr val="2A6A7E"/>
                </a:solidFill>
              </a:rPr>
              <a:t>MARCAS &amp; PATROCÍNIOS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7FA4C95-AFCC-4FA5-A3E2-5B72D52B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86425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82A3C"/>
                </a:solidFill>
              </a:defRPr>
            </a:pPr>
            <a:r>
              <a:rPr sz="1725" b="0">
                <a:solidFill>
                  <a:srgbClr val="082A3C"/>
                </a:solidFill>
              </a:rPr>
              <a:t>afinidade, ativação e conversão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1dd974422c44ae"/>
          <a:srcRect xmlns:a="http://schemas.openxmlformats.org/drawingml/2006/main" l="907" t="0" r="9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0" y="2095500"/>
            <a:ext cx="6572250" cy="4762500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E04D8AA-1059-493D-AF84-7CC5D807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62750"/>
            <a:ext cx="552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1F35"/>
                </a:solidFill>
              </a:defRPr>
            </a:pPr>
            <a:r>
              <a:rPr sz="1950" b="1">
                <a:solidFill>
                  <a:srgbClr val="001F35"/>
                </a:solidFill>
              </a:rPr>
              <a:t>Cada escolha fica ligada ao orçamento e ao resultado do evento.</a:t>
            </a:r>
          </a:p>
        </p:txBody>
      </p:sp>
    </p:spTree>
    <p:extLst>
      <p:ext uri="{BB962C8B-B14F-4D97-AF65-F5344CB8AC3E}">
        <p14:creationId xmlns:p14="http://schemas.microsoft.com/office/powerpoint/2010/main" val="14939959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ECE6B374-7AA4-4E30-87F5-ADEEBD21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1F35"/>
                </a:solidFill>
              </a:defRPr>
            </a:pPr>
            <a:r>
              <a:rPr sz="1800" b="1">
                <a:solidFill>
                  <a:srgbClr val="001F35"/>
                </a:solidFill>
              </a:rPr>
              <a:t>08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a443f05d44200"/>
          <a:stretch xmlns:a="http://schemas.openxmlformats.org/drawingml/2006/main"/>
        </p:blipFill>
        <p:spPr>
          <a:xfrm xmlns:a="http://schemas.openxmlformats.org/drawingml/2006/main">
            <a:off x="12740217" y="361950"/>
            <a:ext cx="1761067" cy="609600"/>
          </a:xfrm>
          <a:prstGeom xmlns:a="http://schemas.openxmlformats.org/drawingml/2006/main" prst="rect">
            <a:avLst/>
          </a:prstGeom>
        </p:spPr>
      </p:pic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30493C7-70D7-4893-86C4-A3D75223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0200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1F35"/>
                </a:solidFill>
              </a:defRPr>
            </a:pPr>
            <a:r>
              <a:rPr sz="1125" b="1">
                <a:solidFill>
                  <a:srgbClr val="001F35"/>
                </a:solidFill>
              </a:rPr>
              <a:t>PESSOAS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74752A25-4539-4151-BC52-E51882E4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809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B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B070AC9-57E4-4F3A-9B0A-30BFEE92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200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1F35"/>
                </a:solidFill>
              </a:defRPr>
            </a:pPr>
            <a:r>
              <a:rPr sz="1125" b="1">
                <a:solidFill>
                  <a:srgbClr val="001F35"/>
                </a:solidFill>
              </a:rPr>
              <a:t>DADOS</a:t>
            </a:r>
          </a:p>
        </p:txBody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5655CE05-1B08-4670-953B-9D4F8245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809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3C1F620-428C-4BE9-BCE0-EA7A8691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80200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1F35"/>
                </a:solidFill>
              </a:defRPr>
            </a:pPr>
            <a:r>
              <a:rPr sz="1125" b="1">
                <a:solidFill>
                  <a:srgbClr val="001F35"/>
                </a:solidFill>
              </a:rPr>
              <a:t>RESULTADOS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40F776F-B16B-4CF2-95E7-2DFCAB55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1123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1F35"/>
                </a:solidFill>
              </a:defRPr>
            </a:pPr>
            <a:r>
              <a:rPr sz="3750" b="1">
                <a:solidFill>
                  <a:srgbClr val="001F35"/>
                </a:solidFill>
              </a:rPr>
              <a:t>Pesquisa de mercado transforma público em decisão.</a:t>
            </a:r>
          </a:p>
        </p:txBody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4E5C8594-3B4F-48A1-A49E-6F4A3EEB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4286250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EC2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954AAC5-840A-48B9-9794-5A724168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622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F4B3E"/>
                </a:solidFill>
              </a:defRPr>
            </a:pPr>
            <a:r>
              <a:rPr sz="1500" b="1">
                <a:solidFill>
                  <a:srgbClr val="EF4B3E"/>
                </a:solidFill>
              </a:rPr>
              <a:t>ANTES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A2FB57E-4232-4CF3-9AF3-5B176F56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33750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1F35"/>
                </a:solidFill>
              </a:defRPr>
            </a:pPr>
            <a:r>
              <a:rPr sz="2250" b="1">
                <a:solidFill>
                  <a:srgbClr val="001F35"/>
                </a:solidFill>
              </a:rPr>
              <a:t>Quem queremos atrair?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E4D3281-615C-452E-A519-D833EB5D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38625"/>
            <a:ext cx="361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82A3C"/>
                </a:solidFill>
              </a:defRPr>
            </a:pPr>
            <a:r>
              <a:rPr sz="1650" b="0">
                <a:solidFill>
                  <a:srgbClr val="082A3C"/>
                </a:solidFill>
              </a:rPr>
              <a:t>perfil, intenção, preço, interesses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09DC73-E408-4AA9-82D1-9B96F1AE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95875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B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hape">
            <a:extLst xmlns:a="http://schemas.openxmlformats.org/drawingml/2006/main">
              <a:ext uri="{FF2B5EF4-FFF2-40B4-BE49-F238E27FC236}">
                <a16:creationId xmlns:a16="http://schemas.microsoft.com/office/drawing/2014/main" id="{31210FA8-10D5-43AA-AF15-69FE3E3B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76500"/>
            <a:ext cx="4286250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EC2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52BD195-B61F-4A18-83CE-36D4D5BA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7622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A2D6E"/>
                </a:solidFill>
              </a:defRPr>
            </a:pPr>
            <a:r>
              <a:rPr sz="1500" b="1">
                <a:solidFill>
                  <a:srgbClr val="5A2D6E"/>
                </a:solidFill>
              </a:rPr>
              <a:t>DURANTE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D7BB779-243E-4F55-AB69-7AD82432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33750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1F35"/>
                </a:solidFill>
              </a:defRPr>
            </a:pPr>
            <a:r>
              <a:rPr sz="2250" b="1">
                <a:solidFill>
                  <a:srgbClr val="001F35"/>
                </a:solidFill>
              </a:rPr>
              <a:t>O que está funcionando?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20254F3-92A0-4D76-ABD8-6AC9120C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238625"/>
            <a:ext cx="361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82A3C"/>
                </a:solidFill>
              </a:defRPr>
            </a:pPr>
            <a:r>
              <a:rPr sz="1650" b="0">
                <a:solidFill>
                  <a:srgbClr val="082A3C"/>
                </a:solidFill>
              </a:rPr>
              <a:t>fluxo, consumo, experiência, segurança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A077DF-E2EF-46C4-A858-8AAD84A2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095875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hape">
            <a:extLst xmlns:a="http://schemas.openxmlformats.org/drawingml/2006/main">
              <a:ext uri="{FF2B5EF4-FFF2-40B4-BE49-F238E27FC236}">
                <a16:creationId xmlns:a16="http://schemas.microsoft.com/office/drawing/2014/main" id="{D04128D8-EC25-4F17-93DD-5717A7EE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76500"/>
            <a:ext cx="4286250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CEC2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8BF0811-B9BD-412B-BE87-661A0243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7622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A6A7E"/>
                </a:solidFill>
              </a:defRPr>
            </a:pPr>
            <a:r>
              <a:rPr sz="1500" b="1">
                <a:solidFill>
                  <a:srgbClr val="2A6A7E"/>
                </a:solidFill>
              </a:rPr>
              <a:t>DEPOIS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D1603C3-BC42-4ED0-8F31-EA7FB12D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333750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1F35"/>
                </a:solidFill>
              </a:defRPr>
            </a:pPr>
            <a:r>
              <a:rPr sz="2250" b="1">
                <a:solidFill>
                  <a:srgbClr val="001F35"/>
                </a:solidFill>
              </a:rPr>
              <a:t>O que gerou retorno?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ECA1C22-EBC8-46BA-A3A8-F629937B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238625"/>
            <a:ext cx="361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82A3C"/>
                </a:solidFill>
              </a:defRPr>
            </a:pPr>
            <a:r>
              <a:rPr sz="1650" b="0">
                <a:solidFill>
                  <a:srgbClr val="082A3C"/>
                </a:solidFill>
              </a:rPr>
              <a:t>NPS, recorrência, conversão, lembrança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EE78C2-A60A-4C41-8499-6FF488CF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095875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07696A7-9E8D-4B43-B4A8-952BF4C9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01F35"/>
                </a:solidFill>
              </a:defRPr>
            </a:pPr>
            <a:r>
              <a:rPr sz="2325" b="1">
                <a:solidFill>
                  <a:srgbClr val="001F35"/>
                </a:solidFill>
              </a:rPr>
              <a:t>A mesma pesquisa orienta programação, patrocínio, comunicação e futuras edições.</a:t>
            </a:r>
          </a:p>
        </p:txBody>
      </p:sp>
    </p:spTree>
    <p:extLst>
      <p:ext uri="{BB962C8B-B14F-4D97-AF65-F5344CB8AC3E}">
        <p14:creationId xmlns:p14="http://schemas.microsoft.com/office/powerpoint/2010/main" val="20151776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32796F31-CECE-4F75-9872-0C09F223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1F35"/>
                </a:solidFill>
              </a:defRPr>
            </a:pPr>
            <a:r>
              <a:rPr sz="1800" b="1">
                <a:solidFill>
                  <a:srgbClr val="001F35"/>
                </a:solidFill>
              </a:rPr>
              <a:t>09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1275fdb922438c"/>
          <a:stretch xmlns:a="http://schemas.openxmlformats.org/drawingml/2006/main"/>
        </p:blipFill>
        <p:spPr>
          <a:xfrm xmlns:a="http://schemas.openxmlformats.org/drawingml/2006/main">
            <a:off x="12740217" y="361950"/>
            <a:ext cx="1761067" cy="609600"/>
          </a:xfrm>
          <a:prstGeom xmlns:a="http://schemas.openxmlformats.org/drawingml/2006/main" prst="rect">
            <a:avLst/>
          </a:prstGeom>
        </p:spPr>
      </p:pic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DE2D864-4D47-4910-8A77-0E567FBC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0200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1F35"/>
                </a:solidFill>
              </a:defRPr>
            </a:pPr>
            <a:r>
              <a:rPr sz="1125" b="1">
                <a:solidFill>
                  <a:srgbClr val="001F35"/>
                </a:solidFill>
              </a:rPr>
              <a:t>PESSOAS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EEA3B113-655D-4955-8F9C-CDF03B7A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809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B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9507ACE-060B-47C1-BCF9-8FBB97B8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200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1F35"/>
                </a:solidFill>
              </a:defRPr>
            </a:pPr>
            <a:r>
              <a:rPr sz="1125" b="1">
                <a:solidFill>
                  <a:srgbClr val="001F35"/>
                </a:solidFill>
              </a:rPr>
              <a:t>DADOS</a:t>
            </a:r>
          </a:p>
        </p:txBody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40F53EA4-C26B-488B-A6BC-378F7E1A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809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661AF51-940B-4E63-B32E-28679F23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80200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1F35"/>
                </a:solidFill>
              </a:defRPr>
            </a:pPr>
            <a:r>
              <a:rPr sz="1125" b="1">
                <a:solidFill>
                  <a:srgbClr val="001F35"/>
                </a:solidFill>
              </a:rPr>
              <a:t>RESULTADOS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B63B28D-7767-419E-98FA-EFF0B31F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1200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1F35"/>
                </a:solidFill>
              </a:defRPr>
            </a:pPr>
            <a:r>
              <a:rPr sz="3450" b="1">
                <a:solidFill>
                  <a:srgbClr val="001F35"/>
                </a:solidFill>
              </a:rPr>
              <a:t>Diversidade é lente de decisão — não uma frente isolada.</a:t>
            </a:r>
          </a:p>
        </p:txBody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780C305E-9C17-43AE-91EE-A76B04DC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0027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B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AEC8697-C8AE-4DC5-9494-A56E1C52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7952611-6B63-406A-8248-C794A536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813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1F35"/>
                </a:solidFill>
              </a:defRPr>
            </a:pPr>
            <a:r>
              <a:rPr sz="1350" b="1">
                <a:solidFill>
                  <a:srgbClr val="001F35"/>
                </a:solidFill>
              </a:rPr>
              <a:t>ACESSO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A32DB2D-F23D-473A-B00A-DE4B700A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67075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82A3C"/>
                </a:solidFill>
              </a:defRPr>
            </a:pPr>
            <a:r>
              <a:rPr sz="1275" b="0">
                <a:solidFill>
                  <a:srgbClr val="082A3C"/>
                </a:solidFill>
              </a:rPr>
              <a:t>amplitude da busca</a:t>
            </a:r>
          </a:p>
        </p:txBody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535DAC3C-3B7A-4DCC-BF9E-562F6E5A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2030" y="3582414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2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7A1FD38-BA6F-440B-A3B1-82F5D225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380" y="3668139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D6E3502-D639-4289-9E4A-430B8CE0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8130" y="4363464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1F35"/>
                </a:solidFill>
              </a:defRPr>
            </a:pPr>
            <a:r>
              <a:rPr sz="1350" b="1">
                <a:solidFill>
                  <a:srgbClr val="001F35"/>
                </a:solidFill>
              </a:rPr>
              <a:t>REPRESENTAÇÃO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555925B-386D-4C8D-9775-D7473915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2880" y="4649214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82A3C"/>
                </a:solidFill>
              </a:defRPr>
            </a:pPr>
            <a:r>
              <a:rPr sz="1275" b="0">
                <a:solidFill>
                  <a:srgbClr val="082A3C"/>
                </a:solidFill>
              </a:rPr>
              <a:t>qualidade das opções</a:t>
            </a:r>
          </a:p>
        </p:txBody>
      </p:sp>
      <p:sp>
        <p:nvSpPr>
          <p:cNvPr id="17" name="shape">
            <a:extLst xmlns:a="http://schemas.openxmlformats.org/drawingml/2006/main">
              <a:ext uri="{FF2B5EF4-FFF2-40B4-BE49-F238E27FC236}">
                <a16:creationId xmlns:a16="http://schemas.microsoft.com/office/drawing/2014/main" id="{8D399B7D-EA63-4CB6-B6D4-E7AC8D0F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7787" y="5818761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3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E053FA7-AE83-4747-8142-0E3C28C2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1137" y="5904486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2928BDB-718B-4CBB-943E-5ACDCE44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887" y="6599811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1F35"/>
                </a:solidFill>
              </a:defRPr>
            </a:pPr>
            <a:r>
              <a:rPr sz="1350" b="1">
                <a:solidFill>
                  <a:srgbClr val="001F35"/>
                </a:solidFill>
              </a:rPr>
              <a:t>ACESSIBILIDADE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B7E5727-6D4B-4AEE-BCFB-A9E9228D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637" y="6885561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82A3C"/>
                </a:solidFill>
              </a:defRPr>
            </a:pPr>
            <a:r>
              <a:rPr sz="1275" b="0">
                <a:solidFill>
                  <a:srgbClr val="082A3C"/>
                </a:solidFill>
              </a:rPr>
              <a:t>experiência possível</a:t>
            </a:r>
          </a:p>
        </p:txBody>
      </p:sp>
      <p:sp>
        <p:nvSpPr>
          <p:cNvPr id="21" name="shape">
            <a:extLst xmlns:a="http://schemas.openxmlformats.org/drawingml/2006/main">
              <a:ext uri="{FF2B5EF4-FFF2-40B4-BE49-F238E27FC236}">
                <a16:creationId xmlns:a16="http://schemas.microsoft.com/office/drawing/2014/main" id="{DAF209EF-517B-4835-ABDF-DACD83DA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4513" y="5818761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1C07FD0-CDA1-4720-B3C9-A3D97416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7863" y="5904486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2CB3FA5-2CDA-40F7-A579-5A73D529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613" y="6599811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1F35"/>
                </a:solidFill>
              </a:defRPr>
            </a:pPr>
            <a:r>
              <a:rPr sz="1350" b="1">
                <a:solidFill>
                  <a:srgbClr val="001F35"/>
                </a:solidFill>
              </a:rPr>
              <a:t>SEGURANÇA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C12BB1D-327B-4A53-8FCD-6B1BA1F4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363" y="6885561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82A3C"/>
                </a:solidFill>
              </a:defRPr>
            </a:pPr>
            <a:r>
              <a:rPr sz="1275" b="0">
                <a:solidFill>
                  <a:srgbClr val="082A3C"/>
                </a:solidFill>
              </a:rPr>
              <a:t>prevenção ao assédio</a:t>
            </a:r>
          </a:p>
        </p:txBody>
      </p:sp>
      <p:sp>
        <p:nvSpPr>
          <p:cNvPr id="25" name="shape">
            <a:extLst xmlns:a="http://schemas.openxmlformats.org/drawingml/2006/main">
              <a:ext uri="{FF2B5EF4-FFF2-40B4-BE49-F238E27FC236}">
                <a16:creationId xmlns:a16="http://schemas.microsoft.com/office/drawing/2014/main" id="{5B684529-13A8-4BE6-898F-7620F29B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270" y="3582414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D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A254F361-8B2F-47D2-AC29-835506E3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620" y="3668139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89CF3019-8934-48FC-AC35-E285E497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6370" y="4363464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1F35"/>
                </a:solidFill>
              </a:defRPr>
            </a:pPr>
            <a:r>
              <a:rPr sz="1350" b="1">
                <a:solidFill>
                  <a:srgbClr val="001F35"/>
                </a:solidFill>
              </a:rPr>
              <a:t>OPORTUNIDADE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9A7C2903-1142-427B-B93C-65D54810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1120" y="4649214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82A3C"/>
                </a:solidFill>
              </a:defRPr>
            </a:pPr>
            <a:r>
              <a:rPr sz="1275" b="0">
                <a:solidFill>
                  <a:srgbClr val="082A3C"/>
                </a:solidFill>
              </a:rPr>
              <a:t>distribuição de valor</a:t>
            </a:r>
          </a:p>
        </p:txBody>
      </p:sp>
      <p:sp>
        <p:nvSpPr>
          <p:cNvPr id="29" name="shape">
            <a:extLst xmlns:a="http://schemas.openxmlformats.org/drawingml/2006/main">
              <a:ext uri="{FF2B5EF4-FFF2-40B4-BE49-F238E27FC236}">
                <a16:creationId xmlns:a16="http://schemas.microsoft.com/office/drawing/2014/main" id="{9087EE8E-79BC-44B2-9D4E-B9204564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14750"/>
            <a:ext cx="2762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1F3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9E6C10FB-B472-46EF-842A-582F9111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48125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7F2EA"/>
                </a:solidFill>
              </a:defRPr>
            </a:pPr>
            <a:r>
              <a:rPr sz="2250" b="1">
                <a:solidFill>
                  <a:srgbClr val="F7F2EA"/>
                </a:solidFill>
              </a:rPr>
              <a:t>MELHORES</a:t>
            </a:r>
          </a:p>
          <a:p xmlns:a="http://schemas.openxmlformats.org/drawingml/2006/main">
            <a:pPr algn="ctr">
              <a:defRPr sz="2250" b="1">
                <a:solidFill>
                  <a:srgbClr val="F7F2EA"/>
                </a:solidFill>
              </a:defRPr>
            </a:pPr>
            <a:r>
              <a:rPr sz="2250" b="1">
                <a:solidFill>
                  <a:srgbClr val="F7F2EA"/>
                </a:solidFill>
              </a:rPr>
              <a:t>DECISÕES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F65FB55B-BFE4-465B-B184-0472B2A4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858000"/>
            <a:ext cx="1200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01F35"/>
                </a:solidFill>
              </a:defRPr>
            </a:pPr>
            <a:r>
              <a:rPr sz="2175" b="1">
                <a:solidFill>
                  <a:srgbClr val="001F35"/>
                </a:solidFill>
              </a:rPr>
              <a:t>Mais diversidade de informação reduz vieses, amplia mercado e protege o resultado.</a:t>
            </a:r>
          </a:p>
        </p:txBody>
      </p:sp>
    </p:spTree>
    <p:extLst>
      <p:ext uri="{BB962C8B-B14F-4D97-AF65-F5344CB8AC3E}">
        <p14:creationId xmlns:p14="http://schemas.microsoft.com/office/powerpoint/2010/main" val="9765839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1F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77C099B-CC91-4C1A-9134-4016CF02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2EA"/>
                </a:solidFill>
              </a:defRPr>
            </a:pPr>
            <a:r>
              <a:rPr sz="1800" b="1">
                <a:solidFill>
                  <a:srgbClr val="F7F2EA"/>
                </a:solidFill>
              </a:rPr>
              <a:t>10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ff0f61de664d96"/>
          <a:stretch xmlns:a="http://schemas.openxmlformats.org/drawingml/2006/main"/>
        </p:blipFill>
        <p:spPr>
          <a:xfrm xmlns:a="http://schemas.openxmlformats.org/drawingml/2006/main">
            <a:off x="12715875" y="378835"/>
            <a:ext cx="1809750" cy="575830"/>
          </a:xfrm>
          <a:prstGeom xmlns:a="http://schemas.openxmlformats.org/drawingml/2006/main" prst="rect">
            <a:avLst/>
          </a:prstGeom>
        </p:spPr>
      </p:pic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ACB0981-E054-4195-8B87-A76CFCD1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0200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2EA"/>
                </a:solidFill>
              </a:defRPr>
            </a:pPr>
            <a:r>
              <a:rPr sz="1125" b="1">
                <a:solidFill>
                  <a:srgbClr val="F7F2EA"/>
                </a:solidFill>
              </a:rPr>
              <a:t>PESSOAS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93EFFC84-BBE2-4DCC-ABC8-DEC8D1CE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809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B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443142D-4315-45FA-A6DD-D54BBA33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200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2EA"/>
                </a:solidFill>
              </a:defRPr>
            </a:pPr>
            <a:r>
              <a:rPr sz="1125" b="1">
                <a:solidFill>
                  <a:srgbClr val="F7F2EA"/>
                </a:solidFill>
              </a:rPr>
              <a:t>DADOS</a:t>
            </a:r>
          </a:p>
        </p:txBody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33522558-FD77-4613-832D-35CFBF28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809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3874BDD-65DF-44FF-B195-56367CB5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80200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2EA"/>
                </a:solidFill>
              </a:defRPr>
            </a:pPr>
            <a:r>
              <a:rPr sz="1125" b="1">
                <a:solidFill>
                  <a:srgbClr val="F7F2EA"/>
                </a:solidFill>
              </a:rPr>
              <a:t>RESULTADOS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A3E7761-889F-4D14-ABC4-B195B46D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1123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7F2EA"/>
                </a:solidFill>
              </a:defRPr>
            </a:pPr>
            <a:r>
              <a:rPr sz="3750" b="1">
                <a:solidFill>
                  <a:srgbClr val="F7F2EA"/>
                </a:solidFill>
              </a:rPr>
              <a:t>O painel prova o valor gerado e protegido.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D918156-3EFC-4247-83A1-1FF20BE4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F4B3E"/>
                </a:solidFill>
              </a:defRPr>
            </a:pPr>
            <a:r>
              <a:rPr sz="1650" b="1">
                <a:solidFill>
                  <a:srgbClr val="EF4B3E"/>
                </a:solidFill>
              </a:rPr>
              <a:t>VALOR GERADO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B42A49A-DFA7-4F27-827B-0D6A4B1A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2EA"/>
                </a:solidFill>
              </a:defRPr>
            </a:pPr>
            <a:r>
              <a:rPr sz="2550" b="1">
                <a:solidFill>
                  <a:srgbClr val="F7F2EA"/>
                </a:solidFill>
              </a:rPr>
              <a:t>Receita ampliada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AC620A4-9509-4793-BDBA-5BC2E8C7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2EA"/>
                </a:solidFill>
              </a:defRPr>
            </a:pPr>
            <a:r>
              <a:rPr sz="1500" b="0">
                <a:solidFill>
                  <a:srgbClr val="F7F2EA"/>
                </a:solidFill>
              </a:rPr>
              <a:t>ingressos • patrocínios • consumo • recorrência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C94823B-2D89-4541-A21D-32FA6196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1432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EF4B3E"/>
                </a:solidFill>
              </a:defRPr>
            </a:pPr>
            <a:r>
              <a:rPr sz="3750" b="1">
                <a:solidFill>
                  <a:srgbClr val="EF4B3E"/>
                </a:solidFill>
              </a:rPr>
              <a:t>+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88E3BBB-3252-4EA3-98FE-301E2912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381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A6A7E"/>
                </a:solidFill>
              </a:defRPr>
            </a:pPr>
            <a:r>
              <a:rPr sz="1650" b="1">
                <a:solidFill>
                  <a:srgbClr val="2A6A7E"/>
                </a:solidFill>
              </a:rPr>
              <a:t>VALOR PROTEGIDO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03A0633-54A6-4B98-9266-16B4EBE5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9051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2EA"/>
                </a:solidFill>
              </a:defRPr>
            </a:pPr>
            <a:r>
              <a:rPr sz="2550" b="1">
                <a:solidFill>
                  <a:srgbClr val="F7F2EA"/>
                </a:solidFill>
              </a:rPr>
              <a:t>Custos e riscos evitados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6058F07-2CED-434A-AC83-E9E8A5C6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476625"/>
            <a:ext cx="590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2EA"/>
                </a:solidFill>
              </a:defRPr>
            </a:pPr>
            <a:r>
              <a:rPr sz="1500" b="0">
                <a:solidFill>
                  <a:srgbClr val="F7F2EA"/>
                </a:solidFill>
              </a:rPr>
              <a:t>retrabalho • turnover • incidentes • desperdício</a:t>
            </a:r>
          </a:p>
        </p:txBody>
      </p:sp>
      <p:sp>
        <p:nvSpPr>
          <p:cNvPr id="16" name="shape">
            <a:extLst xmlns:a="http://schemas.openxmlformats.org/drawingml/2006/main">
              <a:ext uri="{FF2B5EF4-FFF2-40B4-BE49-F238E27FC236}">
                <a16:creationId xmlns:a16="http://schemas.microsoft.com/office/drawing/2014/main" id="{DF1D276C-4791-4DDC-BC43-B16F706D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12954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92B42"/>
          </a:solidFill>
          <a:ln xmlns:a="http://schemas.openxmlformats.org/drawingml/2006/main" w="19050">
            <a:solidFill>
              <a:srgbClr val="2A6A7E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FBFD3FF-2D63-404B-9013-C27A1BA6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91125"/>
            <a:ext cx="1219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7F2EA"/>
                </a:solidFill>
              </a:defRPr>
            </a:pPr>
            <a:r>
              <a:rPr sz="2175" b="1">
                <a:solidFill>
                  <a:srgbClr val="F7F2EA"/>
                </a:solidFill>
              </a:rPr>
              <a:t>Receita ampliada  +  custos evitados  +  riscos reduzidos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4F7275F-AC3B-4FC0-B78C-7CE2A4C3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15000"/>
            <a:ext cx="1219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7D900"/>
                </a:solidFill>
              </a:defRPr>
            </a:pPr>
            <a:r>
              <a:rPr sz="2550" b="1">
                <a:solidFill>
                  <a:srgbClr val="B7D900"/>
                </a:solidFill>
              </a:rPr>
              <a:t>= VALOR GERADO E PROTEGIDO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e75563c7df4f6b"/>
          <a:srcRect xmlns:a="http://schemas.openxmlformats.org/drawingml/2006/main" l="0" t="35546" r="0" b="355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67750" y="6477000"/>
            <a:ext cx="6572250" cy="2095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2147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62FE5095-CC02-466E-AF51-A4B2E1FF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1F35"/>
                </a:solidFill>
              </a:defRPr>
            </a:pPr>
            <a:r>
              <a:rPr sz="1800" b="1">
                <a:solidFill>
                  <a:srgbClr val="001F35"/>
                </a:solidFill>
              </a:rPr>
              <a:t>11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57280cb42842db"/>
          <a:stretch xmlns:a="http://schemas.openxmlformats.org/drawingml/2006/main"/>
        </p:blipFill>
        <p:spPr>
          <a:xfrm xmlns:a="http://schemas.openxmlformats.org/drawingml/2006/main">
            <a:off x="12740217" y="361950"/>
            <a:ext cx="1761067" cy="609600"/>
          </a:xfrm>
          <a:prstGeom xmlns:a="http://schemas.openxmlformats.org/drawingml/2006/main" prst="rect">
            <a:avLst/>
          </a:prstGeom>
        </p:spPr>
      </p:pic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BC07436-A149-4557-AE90-7789D209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0200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1F35"/>
                </a:solidFill>
              </a:defRPr>
            </a:pPr>
            <a:r>
              <a:rPr sz="1125" b="1">
                <a:solidFill>
                  <a:srgbClr val="001F35"/>
                </a:solidFill>
              </a:rPr>
              <a:t>PESSOAS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BD61EEDF-8632-4FDE-B854-260C6459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809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B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A2E918F-5A47-4000-AA5A-F43B0551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200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1F35"/>
                </a:solidFill>
              </a:defRPr>
            </a:pPr>
            <a:r>
              <a:rPr sz="1125" b="1">
                <a:solidFill>
                  <a:srgbClr val="001F35"/>
                </a:solidFill>
              </a:rPr>
              <a:t>DADOS</a:t>
            </a:r>
          </a:p>
        </p:txBody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31C6C12E-7197-4726-9E1A-F2597B8C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809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3BC7293-2FC7-44DE-8C1C-BF607A2A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80200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1F35"/>
                </a:solidFill>
              </a:defRPr>
            </a:pPr>
            <a:r>
              <a:rPr sz="1125" b="1">
                <a:solidFill>
                  <a:srgbClr val="001F35"/>
                </a:solidFill>
              </a:rPr>
              <a:t>RESULTADOS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F51999B-A0FC-432F-B748-B2622BB1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1238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01F35"/>
                </a:solidFill>
              </a:defRPr>
            </a:pPr>
            <a:r>
              <a:rPr sz="3375" b="1">
                <a:solidFill>
                  <a:srgbClr val="001F35"/>
                </a:solidFill>
              </a:rPr>
              <a:t>O modelo híbrido cresce com a produtora e com cada evento.</a:t>
            </a:r>
          </a:p>
        </p:txBody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CD478538-D617-4441-A87C-60089945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526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B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6974125-398D-47AA-969E-27A32E3F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390775"/>
            <a:ext cx="342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BB1065A-F202-4677-B6FD-255AAB6B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860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F4B3E"/>
                </a:solidFill>
              </a:defRPr>
            </a:pPr>
            <a:r>
              <a:rPr sz="1650" b="1">
                <a:solidFill>
                  <a:srgbClr val="EF4B3E"/>
                </a:solidFill>
              </a:rPr>
              <a:t>ASSINATURA DA PRODUTORA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8FC9C65-E614-4C29-BB1C-CAEDBE63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4320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82A3C"/>
                </a:solidFill>
              </a:defRPr>
            </a:pPr>
            <a:r>
              <a:rPr sz="1725" b="0">
                <a:solidFill>
                  <a:srgbClr val="082A3C"/>
                </a:solidFill>
              </a:rPr>
              <a:t>base de pessoas, histórico, inteligência e portfólio consolidado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AD14B6-903D-495D-A71F-8A351CD5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476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B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hape">
            <a:extLst xmlns:a="http://schemas.openxmlformats.org/drawingml/2006/main">
              <a:ext uri="{FF2B5EF4-FFF2-40B4-BE49-F238E27FC236}">
                <a16:creationId xmlns:a16="http://schemas.microsoft.com/office/drawing/2014/main" id="{74DD6F02-60CD-4D67-A8F7-46D26D5F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9719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2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A4C98C8-F21D-4B70-A884-9FC335EA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010025"/>
            <a:ext cx="342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A4E7150-EB2F-4CEF-AE9B-36A63463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052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A2D6E"/>
                </a:solidFill>
              </a:defRPr>
            </a:pPr>
            <a:r>
              <a:rPr sz="1650" b="1">
                <a:solidFill>
                  <a:srgbClr val="5A2D6E"/>
                </a:solidFill>
              </a:rPr>
              <a:t>LICENÇA POR EVENTO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D37FF3A-91AD-407E-9DCD-1464E234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6245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82A3C"/>
                </a:solidFill>
              </a:defRPr>
            </a:pPr>
            <a:r>
              <a:rPr sz="1725" b="0">
                <a:solidFill>
                  <a:srgbClr val="082A3C"/>
                </a:solidFill>
              </a:rPr>
              <a:t>planejamento, operação, pesquisas e painel financeiro independente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05CF7B-9C70-4FBB-A38F-AB5501B3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52950"/>
            <a:ext cx="476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D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hape">
            <a:extLst xmlns:a="http://schemas.openxmlformats.org/drawingml/2006/main">
              <a:ext uri="{FF2B5EF4-FFF2-40B4-BE49-F238E27FC236}">
                <a16:creationId xmlns:a16="http://schemas.microsoft.com/office/drawing/2014/main" id="{F4C51C9D-B67C-42B8-9931-1F58000B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911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76AF7BA-8380-4EB4-9B94-DEAFB3F2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629275"/>
            <a:ext cx="342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AF773A8-0898-4282-AF46-3D8EE352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24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A6A7E"/>
                </a:solidFill>
              </a:defRPr>
            </a:pPr>
            <a:r>
              <a:rPr sz="1650" b="1">
                <a:solidFill>
                  <a:srgbClr val="2A6A7E"/>
                </a:solidFill>
              </a:rPr>
              <a:t>SUCESSO FUTURO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DD27758-E8C3-4914-AF1A-0154BE7C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8170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82A3C"/>
                </a:solidFill>
              </a:defRPr>
            </a:pPr>
            <a:r>
              <a:rPr sz="1725" b="0">
                <a:solidFill>
                  <a:srgbClr val="082A3C"/>
                </a:solidFill>
              </a:rPr>
              <a:t>taxa opcional sobre patrocínios e negócios convertidos pela plataforma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5565A3-B710-4DCB-84B1-AC905E6C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72200"/>
            <a:ext cx="476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4FEC5FA-121C-4FDD-9B9A-7FDC88DE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000875"/>
            <a:ext cx="1343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1F35"/>
                </a:solidFill>
              </a:defRPr>
            </a:pPr>
            <a:r>
              <a:rPr sz="2400" b="1">
                <a:solidFill>
                  <a:srgbClr val="001F35"/>
                </a:solidFill>
              </a:rPr>
              <a:t>Começa simples. Aprende com cada evento. Escala com evidência.</a:t>
            </a:r>
          </a:p>
        </p:txBody>
      </p:sp>
    </p:spTree>
    <p:extLst>
      <p:ext uri="{BB962C8B-B14F-4D97-AF65-F5344CB8AC3E}">
        <p14:creationId xmlns:p14="http://schemas.microsoft.com/office/powerpoint/2010/main" val="13277715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1F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57ECE1D-D128-4AB0-A44B-6D4FEEE0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2EA"/>
                </a:solidFill>
              </a:defRPr>
            </a:pPr>
            <a:r>
              <a:rPr sz="1800" b="1">
                <a:solidFill>
                  <a:srgbClr val="F7F2EA"/>
                </a:solidFill>
              </a:rPr>
              <a:t>12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dca63642ac4645"/>
          <a:stretch xmlns:a="http://schemas.openxmlformats.org/drawingml/2006/main"/>
        </p:blipFill>
        <p:spPr>
          <a:xfrm xmlns:a="http://schemas.openxmlformats.org/drawingml/2006/main">
            <a:off x="12715875" y="378835"/>
            <a:ext cx="1809750" cy="575830"/>
          </a:xfrm>
          <a:prstGeom xmlns:a="http://schemas.openxmlformats.org/drawingml/2006/main" prst="rect">
            <a:avLst/>
          </a:prstGeom>
        </p:spPr>
      </p:pic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A3D1D9C-DB45-4379-8A19-367E6374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0200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2EA"/>
                </a:solidFill>
              </a:defRPr>
            </a:pPr>
            <a:r>
              <a:rPr sz="1125" b="1">
                <a:solidFill>
                  <a:srgbClr val="F7F2EA"/>
                </a:solidFill>
              </a:rPr>
              <a:t>PESSOAS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905392F3-A1A6-4853-83B4-7B08E58B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809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B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E095B9E-ACFD-45EC-A015-0C1D7EA5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200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2EA"/>
                </a:solidFill>
              </a:defRPr>
            </a:pPr>
            <a:r>
              <a:rPr sz="1125" b="1">
                <a:solidFill>
                  <a:srgbClr val="F7F2EA"/>
                </a:solidFill>
              </a:rPr>
              <a:t>DADOS</a:t>
            </a:r>
          </a:p>
        </p:txBody>
      </p:sp>
      <p:sp>
        <p:nvSpPr>
          <p:cNvPr id="6" name="shape">
            <a:extLst xmlns:a="http://schemas.openxmlformats.org/drawingml/2006/main">
              <a:ext uri="{FF2B5EF4-FFF2-40B4-BE49-F238E27FC236}">
                <a16:creationId xmlns:a16="http://schemas.microsoft.com/office/drawing/2014/main" id="{17E7E871-5E7D-4958-AED0-91A288D6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809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ADEEF6A-FF45-4646-B461-801E965C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80200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2EA"/>
                </a:solidFill>
              </a:defRPr>
            </a:pPr>
            <a:r>
              <a:rPr sz="1125" b="1">
                <a:solidFill>
                  <a:srgbClr val="F7F2EA"/>
                </a:solidFill>
              </a:rPr>
              <a:t>RESULTADOS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505BFE6-AC39-4FA1-9BD8-6524E94B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19250"/>
            <a:ext cx="1257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F4B3E"/>
                </a:solidFill>
              </a:defRPr>
            </a:pPr>
            <a:r>
              <a:rPr sz="1800" b="1">
                <a:solidFill>
                  <a:srgbClr val="EF4B3E"/>
                </a:solidFill>
              </a:rPr>
              <a:t>HUB EVENTOS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EC663FF-709B-4972-9FDC-BA32153A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38375"/>
            <a:ext cx="1257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F7F2EA"/>
                </a:solidFill>
              </a:defRPr>
            </a:pPr>
            <a:r>
              <a:rPr sz="4200" b="1">
                <a:solidFill>
                  <a:srgbClr val="F7F2EA"/>
                </a:solidFill>
              </a:rPr>
              <a:t>Vamos provar quanto as pessoas</a:t>
            </a:r>
          </a:p>
          <a:p xmlns:a="http://schemas.openxmlformats.org/drawingml/2006/main">
            <a:pPr algn="ctr">
              <a:defRPr sz="4200" b="1">
                <a:solidFill>
                  <a:srgbClr val="F7F2EA"/>
                </a:solidFill>
              </a:defRPr>
            </a:pPr>
            <a:r>
              <a:rPr sz="4200" b="1">
                <a:solidFill>
                  <a:srgbClr val="F7F2EA"/>
                </a:solidFill>
              </a:rPr>
              <a:t>movimentam o lucro de um evento?</a:t>
            </a:r>
          </a:p>
        </p:txBody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35FF65D0-D25A-4E6F-8E2E-56AA988A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67250"/>
            <a:ext cx="7620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F4B3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F434E95-EE9A-4968-83FA-15DF8532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57750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VALIDAR UM EVENTO-PILOTO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A7A7ACC-5125-4F67-9B92-925CADF7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000750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7F2EA"/>
                </a:solidFill>
              </a:defRPr>
            </a:pPr>
            <a:r>
              <a:rPr sz="1650" b="0">
                <a:solidFill>
                  <a:srgbClr val="F7F2EA"/>
                </a:solidFill>
              </a:rPr>
              <a:t>diagnóstico • pessoas • fornecedores • pesquisa • resultado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ea31adcec74dd3"/>
          <a:srcRect xmlns:a="http://schemas.openxmlformats.org/drawingml/2006/main" l="0" t="39422" r="0" b="394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6572250"/>
            <a:ext cx="8572500" cy="200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6128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2026-08-20T12:55:08.6540000Z</dcterms:created>
  <dcterms:modified xsi:type="dcterms:W3CDTF">2026-08-20T12:55:08.6540000Z</dcterms:modified>
</coreProperties>
</file>